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156ba8-5bfa-d57c-d830-812224ab7baa}">
          <p14:sldIdLst>
            <p14:sldId id="256"/>
          </p14:sldIdLst>
        </p14:section>
        <p14:section name="Solution" id="{6e2d9240-e026-8944-e075-0e6cfb3b9286}">
          <p14:sldIdLst>
            <p14:sldId id="257"/>
          </p14:sldIdLst>
        </p14:section>
        <p14:section name="AI Pillars" id="{85b1643d-4f93-90b3-a317-5c2ae87b1d3d}">
          <p14:sldIdLst>
            <p14:sldId id="258"/>
            <p14:sldId id="259"/>
            <p14:sldId id="260"/>
            <p14:sldId id="261"/>
          </p14:sldIdLst>
        </p14:section>
        <p14:section name="Automation" id="{96871e81-4d2c-84da-0814-1eb228e36efa}">
          <p14:sldIdLst>
            <p14:sldId id="262"/>
          </p14:sldIdLst>
        </p14:section>
        <p14:section name="Delivery" id="{d058da18-78ca-a2bd-ede5-00f4e0a8234d}">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731520"/>
            <a:ext cx="11091672"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1"/>
          </a:solidFill>
          <a:ln/>
        </p:spPr>
      </p:sp>
      <p:sp>
        <p:nvSpPr>
          <p:cNvPr id="3" name="Text 1"/>
          <p:cNvSpPr/>
          <p:nvPr>
            <p:ph idx="101" type="title" hasCustomPrompt="1"/>
          </p:nvPr>
        </p:nvSpPr>
        <p:spPr>
          <a:xfrm>
            <a:off x="548640" y="365760"/>
            <a:ext cx="11091672"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Group 10  |  AI in Sustainability &amp; Green Initiatives</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roup label"/>
          <p:cNvSpPr txBox="1"/>
          <p:nvPr/>
        </p:nvSpPr>
        <p:spPr>
          <a:xfrm>
            <a:off x="548640" y="457200"/>
            <a:ext cx="3657600" cy="274320"/>
          </a:xfrm>
          <a:prstGeom prst="rect">
            <a:avLst/>
          </a:prstGeom>
          <a:noFill/>
          <a:ln/>
        </p:spPr>
        <p:txBody>
          <a:bodyPr wrap="square" lIns="0" tIns="0" rIns="0" bIns="0" rtlCol="0" anchor="t"/>
          <a:lstStyle/>
          <a:p>
            <a:pPr algn="l" indent="0" marL="0">
              <a:buNone/>
            </a:pPr>
            <a:r>
              <a:rPr lang="en-US" sz="1400" b="1" spc="300" kern="0" dirty="0">
                <a:solidFill>
                  <a:schemeClr val="accent2"/>
                </a:solidFill>
              </a:rPr>
              <a:t>GROUP 10</a:t>
            </a:r>
            <a:endParaRPr lang="en-US" sz="1400" dirty="0"/>
          </a:p>
        </p:txBody>
      </p:sp>
      <p:sp>
        <p:nvSpPr>
          <p:cNvPr id="3" name="Text 1"/>
          <p:cNvSpPr/>
          <p:nvPr>
            <p:ph idx="101" type="title" hasCustomPrompt="1"/>
          </p:nvPr>
        </p:nvSpPr>
        <p:spPr>
          <a:xfrm>
            <a:off x="548640" y="731520"/>
            <a:ext cx="11091672" cy="822960"/>
          </a:xfrm>
          <a:prstGeom prst="rect">
            <a:avLst/>
          </a:prstGeom>
          <a:noFill/>
          <a:ln/>
        </p:spPr>
        <p:txBody>
          <a:bodyPr wrap="square" lIns="0" tIns="0" rIns="0" bIns="0" rtlCol="0" anchor="t"/>
          <a:lstStyle/>
          <a:p>
            <a:pPr algn="l" indent="0" marL="0">
              <a:buNone/>
            </a:pPr>
            <a:r>
              <a:rPr lang="en-US" sz="3800" b="1" dirty="0">
                <a:solidFill>
                  <a:schemeClr val="bg1"/>
                </a:solidFill>
              </a:rPr>
              <a:t>AI in Sustainability &amp; Green Initiatives</a:t>
            </a:r>
            <a:endParaRPr lang="en-US" sz="3800" dirty="0"/>
          </a:p>
        </p:txBody>
      </p:sp>
      <p:sp>
        <p:nvSpPr>
          <p:cNvPr id="4" name="Problem label"/>
          <p:cNvSpPr txBox="1"/>
          <p:nvPr/>
        </p:nvSpPr>
        <p:spPr>
          <a:xfrm>
            <a:off x="548640" y="178308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PROBLEM STATEMENT</a:t>
            </a:r>
            <a:endParaRPr lang="en-US" sz="1200" dirty="0"/>
          </a:p>
        </p:txBody>
      </p:sp>
      <p:sp>
        <p:nvSpPr>
          <p:cNvPr id="5" name="Problem statement"/>
          <p:cNvSpPr txBox="1"/>
          <p:nvPr/>
        </p:nvSpPr>
        <p:spPr>
          <a:xfrm>
            <a:off x="548640" y="2103120"/>
            <a:ext cx="11091672" cy="914400"/>
          </a:xfrm>
          <a:prstGeom prst="rect">
            <a:avLst/>
          </a:prstGeom>
          <a:noFill/>
          <a:ln/>
        </p:spPr>
        <p:txBody>
          <a:bodyPr wrap="square" lIns="0" tIns="0" rIns="0" bIns="0" rtlCol="0" anchor="t"/>
          <a:lstStyle/>
          <a:p>
            <a:pPr algn="l" indent="0" marL="0">
              <a:buNone/>
            </a:pPr>
            <a:r>
              <a:rPr lang="en-US" sz="1600" dirty="0">
                <a:solidFill>
                  <a:schemeClr val="bg1"/>
                </a:solidFill>
              </a:rPr>
              <a:t>A large Indian conglomerate wants to cut its carbon footprint, optimise energy use and meet its sustainability goals. We propose an AI solution for energy optimisation, waste reduction and environmental impact monitoring across its operations.</a:t>
            </a:r>
            <a:endParaRPr lang="en-US" sz="1600" dirty="0"/>
          </a:p>
        </p:txBody>
      </p:sp>
      <p:sp>
        <p:nvSpPr>
          <p:cNvPr id="6" name="Challenges label"/>
          <p:cNvSpPr txBox="1"/>
          <p:nvPr/>
        </p:nvSpPr>
        <p:spPr>
          <a:xfrm>
            <a:off x="548640" y="3200400"/>
            <a:ext cx="54864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KEY BUSINESS CHALLENGES</a:t>
            </a:r>
            <a:endParaRPr lang="en-US" sz="1200" dirty="0"/>
          </a:p>
        </p:txBody>
      </p:sp>
      <p:sp>
        <p:nvSpPr>
          <p:cNvPr id="7" name="Challenge chip 1"/>
          <p:cNvSpPr/>
          <p:nvPr/>
        </p:nvSpPr>
        <p:spPr>
          <a:xfrm>
            <a:off x="548640" y="3566160"/>
            <a:ext cx="2072030" cy="1280160"/>
          </a:xfrm>
          <a:prstGeom prst="roundRect">
            <a:avLst>
              <a:gd name="adj" fmla="val 8571"/>
            </a:avLst>
          </a:prstGeom>
          <a:solidFill>
            <a:schemeClr val="bg1">
              <a:alpha val="12000"/>
            </a:schemeClr>
          </a:solidFill>
          <a:ln/>
        </p:spPr>
      </p:sp>
      <p:sp>
        <p:nvSpPr>
          <p:cNvPr id="8" name="Challenge 1 circle"/>
          <p:cNvSpPr/>
          <p:nvPr/>
        </p:nvSpPr>
        <p:spPr>
          <a:xfrm>
            <a:off x="731520" y="3703320"/>
            <a:ext cx="457200" cy="457200"/>
          </a:xfrm>
          <a:prstGeom prst="ellipse">
            <a:avLst/>
          </a:prstGeom>
          <a:solidFill>
            <a:schemeClr val="accent1"/>
          </a:solidFill>
          <a:ln/>
        </p:spPr>
      </p:sp>
      <p:pic>
        <p:nvPicPr>
          <p:cNvPr id="9" name="Challenge 1 icon" descr="Challenge 1">    </p:cNvPr>
          <p:cNvPicPr>
            <a:picLocks noChangeAspect="1"/>
          </p:cNvPicPr>
          <p:nvPr/>
        </p:nvPicPr>
        <p:blipFill>
          <a:blip r:embed="rId1"/>
          <a:stretch>
            <a:fillRect/>
          </a:stretch>
        </p:blipFill>
        <p:spPr>
          <a:xfrm>
            <a:off x="845820" y="3817620"/>
            <a:ext cx="228600" cy="228600"/>
          </a:xfrm>
          <a:prstGeom prst="rect">
            <a:avLst/>
          </a:prstGeom>
        </p:spPr>
      </p:pic>
      <p:sp>
        <p:nvSpPr>
          <p:cNvPr id="10" name="Challenge text 1"/>
          <p:cNvSpPr txBox="1"/>
          <p:nvPr/>
        </p:nvSpPr>
        <p:spPr>
          <a:xfrm>
            <a:off x="731520" y="4251960"/>
            <a:ext cx="1706270" cy="502920"/>
          </a:xfrm>
          <a:prstGeom prst="rect">
            <a:avLst/>
          </a:prstGeom>
          <a:noFill/>
          <a:ln/>
        </p:spPr>
        <p:txBody>
          <a:bodyPr wrap="square" lIns="0" tIns="0" rIns="0" bIns="0" rtlCol="0" anchor="t"/>
          <a:lstStyle/>
          <a:p>
            <a:pPr algn="l" indent="0" marL="0">
              <a:buNone/>
            </a:pPr>
            <a:r>
              <a:rPr lang="en-US" sz="1400" dirty="0">
                <a:solidFill>
                  <a:schemeClr val="bg1"/>
                </a:solidFill>
              </a:rPr>
              <a:t>High energy use and carbon emissions</a:t>
            </a:r>
            <a:endParaRPr lang="en-US" sz="1400" dirty="0"/>
          </a:p>
        </p:txBody>
      </p:sp>
      <p:sp>
        <p:nvSpPr>
          <p:cNvPr id="11" name="Challenge chip 2"/>
          <p:cNvSpPr/>
          <p:nvPr/>
        </p:nvSpPr>
        <p:spPr>
          <a:xfrm>
            <a:off x="2803550" y="3566160"/>
            <a:ext cx="2072030" cy="1280160"/>
          </a:xfrm>
          <a:prstGeom prst="roundRect">
            <a:avLst>
              <a:gd name="adj" fmla="val 8571"/>
            </a:avLst>
          </a:prstGeom>
          <a:solidFill>
            <a:schemeClr val="bg1">
              <a:alpha val="12000"/>
            </a:schemeClr>
          </a:solidFill>
          <a:ln/>
        </p:spPr>
      </p:sp>
      <p:sp>
        <p:nvSpPr>
          <p:cNvPr id="12" name="Challenge 2 circle"/>
          <p:cNvSpPr/>
          <p:nvPr/>
        </p:nvSpPr>
        <p:spPr>
          <a:xfrm>
            <a:off x="2986430" y="3703320"/>
            <a:ext cx="457200" cy="457200"/>
          </a:xfrm>
          <a:prstGeom prst="ellipse">
            <a:avLst/>
          </a:prstGeom>
          <a:solidFill>
            <a:schemeClr val="accent1"/>
          </a:solidFill>
          <a:ln/>
        </p:spPr>
      </p:sp>
      <p:pic>
        <p:nvPicPr>
          <p:cNvPr id="13" name="Challenge 2 icon" descr="Challenge 2">    </p:cNvPr>
          <p:cNvPicPr>
            <a:picLocks noChangeAspect="1"/>
          </p:cNvPicPr>
          <p:nvPr/>
        </p:nvPicPr>
        <p:blipFill>
          <a:blip r:embed="rId2"/>
          <a:stretch>
            <a:fillRect/>
          </a:stretch>
        </p:blipFill>
        <p:spPr>
          <a:xfrm>
            <a:off x="3100730" y="3817620"/>
            <a:ext cx="228600" cy="228600"/>
          </a:xfrm>
          <a:prstGeom prst="rect">
            <a:avLst/>
          </a:prstGeom>
        </p:spPr>
      </p:pic>
      <p:sp>
        <p:nvSpPr>
          <p:cNvPr id="14" name="Challenge text 2"/>
          <p:cNvSpPr txBox="1"/>
          <p:nvPr/>
        </p:nvSpPr>
        <p:spPr>
          <a:xfrm>
            <a:off x="2986430" y="4251960"/>
            <a:ext cx="1706270" cy="502920"/>
          </a:xfrm>
          <a:prstGeom prst="rect">
            <a:avLst/>
          </a:prstGeom>
          <a:noFill/>
          <a:ln/>
        </p:spPr>
        <p:txBody>
          <a:bodyPr wrap="square" lIns="0" tIns="0" rIns="0" bIns="0" rtlCol="0" anchor="t"/>
          <a:lstStyle/>
          <a:p>
            <a:pPr algn="l" indent="0" marL="0">
              <a:buNone/>
            </a:pPr>
            <a:r>
              <a:rPr lang="en-US" sz="1400" dirty="0">
                <a:solidFill>
                  <a:schemeClr val="bg1"/>
                </a:solidFill>
              </a:rPr>
              <a:t>Waste and resource inefficiency</a:t>
            </a:r>
            <a:endParaRPr lang="en-US" sz="1400" dirty="0"/>
          </a:p>
        </p:txBody>
      </p:sp>
      <p:sp>
        <p:nvSpPr>
          <p:cNvPr id="15" name="Challenge chip 3"/>
          <p:cNvSpPr/>
          <p:nvPr/>
        </p:nvSpPr>
        <p:spPr>
          <a:xfrm>
            <a:off x="5058461" y="3566160"/>
            <a:ext cx="2072030" cy="1280160"/>
          </a:xfrm>
          <a:prstGeom prst="roundRect">
            <a:avLst>
              <a:gd name="adj" fmla="val 8571"/>
            </a:avLst>
          </a:prstGeom>
          <a:solidFill>
            <a:schemeClr val="bg1">
              <a:alpha val="12000"/>
            </a:schemeClr>
          </a:solidFill>
          <a:ln/>
        </p:spPr>
      </p:sp>
      <p:sp>
        <p:nvSpPr>
          <p:cNvPr id="16" name="Challenge 3 circle"/>
          <p:cNvSpPr/>
          <p:nvPr/>
        </p:nvSpPr>
        <p:spPr>
          <a:xfrm>
            <a:off x="5241341" y="3703320"/>
            <a:ext cx="457200" cy="457200"/>
          </a:xfrm>
          <a:prstGeom prst="ellipse">
            <a:avLst/>
          </a:prstGeom>
          <a:solidFill>
            <a:schemeClr val="accent1"/>
          </a:solidFill>
          <a:ln/>
        </p:spPr>
      </p:sp>
      <p:pic>
        <p:nvPicPr>
          <p:cNvPr id="17" name="Challenge 3 icon" descr="Challenge 3">    </p:cNvPr>
          <p:cNvPicPr>
            <a:picLocks noChangeAspect="1"/>
          </p:cNvPicPr>
          <p:nvPr/>
        </p:nvPicPr>
        <p:blipFill>
          <a:blip r:embed="rId3"/>
          <a:stretch>
            <a:fillRect/>
          </a:stretch>
        </p:blipFill>
        <p:spPr>
          <a:xfrm>
            <a:off x="5355641" y="3817620"/>
            <a:ext cx="228600" cy="228600"/>
          </a:xfrm>
          <a:prstGeom prst="rect">
            <a:avLst/>
          </a:prstGeom>
        </p:spPr>
      </p:pic>
      <p:sp>
        <p:nvSpPr>
          <p:cNvPr id="18" name="Challenge text 3"/>
          <p:cNvSpPr txBox="1"/>
          <p:nvPr/>
        </p:nvSpPr>
        <p:spPr>
          <a:xfrm>
            <a:off x="5241341" y="4251960"/>
            <a:ext cx="1706270" cy="502920"/>
          </a:xfrm>
          <a:prstGeom prst="rect">
            <a:avLst/>
          </a:prstGeom>
          <a:noFill/>
          <a:ln/>
        </p:spPr>
        <p:txBody>
          <a:bodyPr wrap="square" lIns="0" tIns="0" rIns="0" bIns="0" rtlCol="0" anchor="t"/>
          <a:lstStyle/>
          <a:p>
            <a:pPr algn="l" indent="0" marL="0">
              <a:buNone/>
            </a:pPr>
            <a:r>
              <a:rPr lang="en-US" sz="1400" dirty="0">
                <a:solidFill>
                  <a:schemeClr val="bg1"/>
                </a:solidFill>
              </a:rPr>
              <a:t>Environmental monitoring gaps</a:t>
            </a:r>
            <a:endParaRPr lang="en-US" sz="1400" dirty="0"/>
          </a:p>
        </p:txBody>
      </p:sp>
      <p:sp>
        <p:nvSpPr>
          <p:cNvPr id="19" name="Challenge chip 4"/>
          <p:cNvSpPr/>
          <p:nvPr/>
        </p:nvSpPr>
        <p:spPr>
          <a:xfrm>
            <a:off x="7313371" y="3566160"/>
            <a:ext cx="2072030" cy="1280160"/>
          </a:xfrm>
          <a:prstGeom prst="roundRect">
            <a:avLst>
              <a:gd name="adj" fmla="val 8571"/>
            </a:avLst>
          </a:prstGeom>
          <a:solidFill>
            <a:schemeClr val="bg1">
              <a:alpha val="12000"/>
            </a:schemeClr>
          </a:solidFill>
          <a:ln/>
        </p:spPr>
      </p:sp>
      <p:sp>
        <p:nvSpPr>
          <p:cNvPr id="20" name="Challenge 4 circle"/>
          <p:cNvSpPr/>
          <p:nvPr/>
        </p:nvSpPr>
        <p:spPr>
          <a:xfrm>
            <a:off x="7496251" y="3703320"/>
            <a:ext cx="457200" cy="457200"/>
          </a:xfrm>
          <a:prstGeom prst="ellipse">
            <a:avLst/>
          </a:prstGeom>
          <a:solidFill>
            <a:schemeClr val="accent1"/>
          </a:solidFill>
          <a:ln/>
        </p:spPr>
      </p:sp>
      <p:pic>
        <p:nvPicPr>
          <p:cNvPr id="21" name="Challenge 4 icon" descr="Challenge 4">    </p:cNvPr>
          <p:cNvPicPr>
            <a:picLocks noChangeAspect="1"/>
          </p:cNvPicPr>
          <p:nvPr/>
        </p:nvPicPr>
        <p:blipFill>
          <a:blip r:embed="rId4"/>
          <a:stretch>
            <a:fillRect/>
          </a:stretch>
        </p:blipFill>
        <p:spPr>
          <a:xfrm>
            <a:off x="7610551" y="3817620"/>
            <a:ext cx="228600" cy="228600"/>
          </a:xfrm>
          <a:prstGeom prst="rect">
            <a:avLst/>
          </a:prstGeom>
        </p:spPr>
      </p:pic>
      <p:sp>
        <p:nvSpPr>
          <p:cNvPr id="22" name="Challenge text 4"/>
          <p:cNvSpPr txBox="1"/>
          <p:nvPr/>
        </p:nvSpPr>
        <p:spPr>
          <a:xfrm>
            <a:off x="7496251" y="4251960"/>
            <a:ext cx="1706270" cy="502920"/>
          </a:xfrm>
          <a:prstGeom prst="rect">
            <a:avLst/>
          </a:prstGeom>
          <a:noFill/>
          <a:ln/>
        </p:spPr>
        <p:txBody>
          <a:bodyPr wrap="square" lIns="0" tIns="0" rIns="0" bIns="0" rtlCol="0" anchor="t"/>
          <a:lstStyle/>
          <a:p>
            <a:pPr algn="l" indent="0" marL="0">
              <a:buNone/>
            </a:pPr>
            <a:r>
              <a:rPr lang="en-US" sz="1400" dirty="0">
                <a:solidFill>
                  <a:schemeClr val="bg1"/>
                </a:solidFill>
              </a:rPr>
              <a:t>Fragmented operational data</a:t>
            </a:r>
            <a:endParaRPr lang="en-US" sz="1400" dirty="0"/>
          </a:p>
        </p:txBody>
      </p:sp>
      <p:sp>
        <p:nvSpPr>
          <p:cNvPr id="23" name="Challenge chip 5"/>
          <p:cNvSpPr/>
          <p:nvPr/>
        </p:nvSpPr>
        <p:spPr>
          <a:xfrm>
            <a:off x="9568282" y="3566160"/>
            <a:ext cx="2072030" cy="1280160"/>
          </a:xfrm>
          <a:prstGeom prst="roundRect">
            <a:avLst>
              <a:gd name="adj" fmla="val 8571"/>
            </a:avLst>
          </a:prstGeom>
          <a:solidFill>
            <a:schemeClr val="bg1">
              <a:alpha val="12000"/>
            </a:schemeClr>
          </a:solidFill>
          <a:ln/>
        </p:spPr>
      </p:sp>
      <p:sp>
        <p:nvSpPr>
          <p:cNvPr id="24" name="Challenge 5 circle"/>
          <p:cNvSpPr/>
          <p:nvPr/>
        </p:nvSpPr>
        <p:spPr>
          <a:xfrm>
            <a:off x="9751162" y="3703320"/>
            <a:ext cx="457200" cy="457200"/>
          </a:xfrm>
          <a:prstGeom prst="ellipse">
            <a:avLst/>
          </a:prstGeom>
          <a:solidFill>
            <a:schemeClr val="accent1"/>
          </a:solidFill>
          <a:ln/>
        </p:spPr>
      </p:sp>
      <p:pic>
        <p:nvPicPr>
          <p:cNvPr id="25" name="Challenge 5 icon" descr="Challenge 5">    </p:cNvPr>
          <p:cNvPicPr>
            <a:picLocks noChangeAspect="1"/>
          </p:cNvPicPr>
          <p:nvPr/>
        </p:nvPicPr>
        <p:blipFill>
          <a:blip r:embed="rId5"/>
          <a:stretch>
            <a:fillRect/>
          </a:stretch>
        </p:blipFill>
        <p:spPr>
          <a:xfrm>
            <a:off x="9865462" y="3817620"/>
            <a:ext cx="228600" cy="228600"/>
          </a:xfrm>
          <a:prstGeom prst="rect">
            <a:avLst/>
          </a:prstGeom>
        </p:spPr>
      </p:pic>
      <p:sp>
        <p:nvSpPr>
          <p:cNvPr id="26" name="Challenge text 5"/>
          <p:cNvSpPr txBox="1"/>
          <p:nvPr/>
        </p:nvSpPr>
        <p:spPr>
          <a:xfrm>
            <a:off x="9751162" y="4251960"/>
            <a:ext cx="1706270" cy="502920"/>
          </a:xfrm>
          <a:prstGeom prst="rect">
            <a:avLst/>
          </a:prstGeom>
          <a:noFill/>
          <a:ln/>
        </p:spPr>
        <p:txBody>
          <a:bodyPr wrap="square" lIns="0" tIns="0" rIns="0" bIns="0" rtlCol="0" anchor="t"/>
          <a:lstStyle/>
          <a:p>
            <a:pPr algn="l" indent="0" marL="0">
              <a:buNone/>
            </a:pPr>
            <a:r>
              <a:rPr lang="en-US" sz="1400" dirty="0">
                <a:solidFill>
                  <a:schemeClr val="bg1"/>
                </a:solidFill>
              </a:rPr>
              <a:t>Need for an integrated AI solution</a:t>
            </a:r>
            <a:endParaRPr lang="en-US" sz="1400" dirty="0"/>
          </a:p>
        </p:txBody>
      </p:sp>
      <p:sp>
        <p:nvSpPr>
          <p:cNvPr id="27" name="Members label"/>
          <p:cNvSpPr txBox="1"/>
          <p:nvPr/>
        </p:nvSpPr>
        <p:spPr>
          <a:xfrm>
            <a:off x="548640" y="544068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GROUP MEMBERS</a:t>
            </a:r>
            <a:endParaRPr lang="en-US" sz="1200" dirty="0"/>
          </a:p>
        </p:txBody>
      </p:sp>
      <p:sp>
        <p:nvSpPr>
          <p:cNvPr id="28" name="Member pill 1"/>
          <p:cNvSpPr/>
          <p:nvPr/>
        </p:nvSpPr>
        <p:spPr>
          <a:xfrm>
            <a:off x="548640" y="5806440"/>
            <a:ext cx="960120" cy="457200"/>
          </a:xfrm>
          <a:prstGeom prst="roundRect">
            <a:avLst>
              <a:gd name="adj" fmla="val 50000"/>
            </a:avLst>
          </a:prstGeom>
          <a:solidFill>
            <a:schemeClr val="accent1"/>
          </a:solidFill>
          <a:ln/>
        </p:spPr>
      </p:sp>
      <p:sp>
        <p:nvSpPr>
          <p:cNvPr id="29" name="Member 1"/>
          <p:cNvSpPr txBox="1"/>
          <p:nvPr/>
        </p:nvSpPr>
        <p:spPr>
          <a:xfrm>
            <a:off x="548640"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Ntiya</a:t>
            </a:r>
            <a:endParaRPr lang="en-US" sz="1400" dirty="0"/>
          </a:p>
        </p:txBody>
      </p:sp>
      <p:sp>
        <p:nvSpPr>
          <p:cNvPr id="30" name="Member pill 2"/>
          <p:cNvSpPr/>
          <p:nvPr/>
        </p:nvSpPr>
        <p:spPr>
          <a:xfrm>
            <a:off x="1618488" y="5806440"/>
            <a:ext cx="960120" cy="457200"/>
          </a:xfrm>
          <a:prstGeom prst="roundRect">
            <a:avLst>
              <a:gd name="adj" fmla="val 50000"/>
            </a:avLst>
          </a:prstGeom>
          <a:solidFill>
            <a:schemeClr val="accent1"/>
          </a:solidFill>
          <a:ln/>
        </p:spPr>
      </p:sp>
      <p:sp>
        <p:nvSpPr>
          <p:cNvPr id="31" name="Member 2"/>
          <p:cNvSpPr txBox="1"/>
          <p:nvPr/>
        </p:nvSpPr>
        <p:spPr>
          <a:xfrm>
            <a:off x="1618488"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Remin</a:t>
            </a:r>
            <a:endParaRPr lang="en-US" sz="1400" dirty="0"/>
          </a:p>
        </p:txBody>
      </p:sp>
      <p:sp>
        <p:nvSpPr>
          <p:cNvPr id="32" name="Member pill 3"/>
          <p:cNvSpPr/>
          <p:nvPr/>
        </p:nvSpPr>
        <p:spPr>
          <a:xfrm>
            <a:off x="2688336" y="5806440"/>
            <a:ext cx="960120" cy="457200"/>
          </a:xfrm>
          <a:prstGeom prst="roundRect">
            <a:avLst>
              <a:gd name="adj" fmla="val 50000"/>
            </a:avLst>
          </a:prstGeom>
          <a:solidFill>
            <a:schemeClr val="accent1"/>
          </a:solidFill>
          <a:ln/>
        </p:spPr>
      </p:sp>
      <p:sp>
        <p:nvSpPr>
          <p:cNvPr id="33" name="Member 3"/>
          <p:cNvSpPr txBox="1"/>
          <p:nvPr/>
        </p:nvSpPr>
        <p:spPr>
          <a:xfrm>
            <a:off x="2688336"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Riti</a:t>
            </a:r>
            <a:endParaRPr lang="en-US" sz="1400" dirty="0"/>
          </a:p>
        </p:txBody>
      </p:sp>
      <p:sp>
        <p:nvSpPr>
          <p:cNvPr id="34" name="Member pill 4"/>
          <p:cNvSpPr/>
          <p:nvPr/>
        </p:nvSpPr>
        <p:spPr>
          <a:xfrm>
            <a:off x="3758184" y="5806440"/>
            <a:ext cx="960120" cy="457200"/>
          </a:xfrm>
          <a:prstGeom prst="roundRect">
            <a:avLst>
              <a:gd name="adj" fmla="val 50000"/>
            </a:avLst>
          </a:prstGeom>
          <a:solidFill>
            <a:schemeClr val="accent1"/>
          </a:solidFill>
          <a:ln/>
        </p:spPr>
      </p:sp>
      <p:sp>
        <p:nvSpPr>
          <p:cNvPr id="35" name="Member 4"/>
          <p:cNvSpPr txBox="1"/>
          <p:nvPr/>
        </p:nvSpPr>
        <p:spPr>
          <a:xfrm>
            <a:off x="3758184"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Ronak</a:t>
            </a:r>
            <a:endParaRPr lang="en-US" sz="1400" dirty="0"/>
          </a:p>
        </p:txBody>
      </p:sp>
      <p:sp>
        <p:nvSpPr>
          <p:cNvPr id="36" name="Member pill 5"/>
          <p:cNvSpPr/>
          <p:nvPr/>
        </p:nvSpPr>
        <p:spPr>
          <a:xfrm>
            <a:off x="4828032" y="5806440"/>
            <a:ext cx="960120" cy="457200"/>
          </a:xfrm>
          <a:prstGeom prst="roundRect">
            <a:avLst>
              <a:gd name="adj" fmla="val 50000"/>
            </a:avLst>
          </a:prstGeom>
          <a:solidFill>
            <a:schemeClr val="accent1"/>
          </a:solidFill>
          <a:ln/>
        </p:spPr>
      </p:sp>
      <p:sp>
        <p:nvSpPr>
          <p:cNvPr id="37" name="Member 5"/>
          <p:cNvSpPr txBox="1"/>
          <p:nvPr/>
        </p:nvSpPr>
        <p:spPr>
          <a:xfrm>
            <a:off x="4828032"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Vasu Dev</a:t>
            </a:r>
            <a:endParaRPr lang="en-US" sz="1400" dirty="0"/>
          </a:p>
        </p:txBody>
      </p:sp>
      <p:sp>
        <p:nvSpPr>
          <p:cNvPr id="38" name="Member pill 6"/>
          <p:cNvSpPr/>
          <p:nvPr/>
        </p:nvSpPr>
        <p:spPr>
          <a:xfrm>
            <a:off x="5897880" y="5806440"/>
            <a:ext cx="960120" cy="457200"/>
          </a:xfrm>
          <a:prstGeom prst="roundRect">
            <a:avLst>
              <a:gd name="adj" fmla="val 50000"/>
            </a:avLst>
          </a:prstGeom>
          <a:solidFill>
            <a:schemeClr val="accent1"/>
          </a:solidFill>
          <a:ln/>
        </p:spPr>
      </p:sp>
      <p:sp>
        <p:nvSpPr>
          <p:cNvPr id="39" name="Member 6"/>
          <p:cNvSpPr txBox="1"/>
          <p:nvPr/>
        </p:nvSpPr>
        <p:spPr>
          <a:xfrm>
            <a:off x="5897880"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Vishal</a:t>
            </a:r>
            <a:endParaRPr lang="en-US" sz="1400" dirty="0"/>
          </a:p>
        </p:txBody>
      </p:sp>
      <p:sp>
        <p:nvSpPr>
          <p:cNvPr id="40" name="Member pill 7"/>
          <p:cNvSpPr/>
          <p:nvPr/>
        </p:nvSpPr>
        <p:spPr>
          <a:xfrm>
            <a:off x="6967728" y="5806440"/>
            <a:ext cx="960120" cy="457200"/>
          </a:xfrm>
          <a:prstGeom prst="roundRect">
            <a:avLst>
              <a:gd name="adj" fmla="val 50000"/>
            </a:avLst>
          </a:prstGeom>
          <a:solidFill>
            <a:schemeClr val="accent1"/>
          </a:solidFill>
          <a:ln/>
        </p:spPr>
      </p:sp>
      <p:sp>
        <p:nvSpPr>
          <p:cNvPr id="41" name="Member 7"/>
          <p:cNvSpPr txBox="1"/>
          <p:nvPr/>
        </p:nvSpPr>
        <p:spPr>
          <a:xfrm>
            <a:off x="6967728" y="5806440"/>
            <a:ext cx="960120" cy="457200"/>
          </a:xfrm>
          <a:prstGeom prst="rect">
            <a:avLst/>
          </a:prstGeom>
          <a:noFill/>
          <a:ln/>
        </p:spPr>
        <p:txBody>
          <a:bodyPr wrap="square" lIns="0" tIns="0" rIns="0" bIns="0" rtlCol="0" anchor="ctr"/>
          <a:lstStyle/>
          <a:p>
            <a:pPr algn="ctr" indent="0" marL="0">
              <a:buNone/>
            </a:pPr>
            <a:r>
              <a:rPr lang="en-US" sz="1400" b="1" dirty="0">
                <a:solidFill>
                  <a:schemeClr val="bg1"/>
                </a:solidFill>
              </a:rPr>
              <a:t>Dhaval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Proposed AI-Based Sustainability System</a:t>
            </a:r>
            <a:endParaRPr lang="en-US" sz="3200" dirty="0"/>
          </a:p>
        </p:txBody>
      </p:sp>
      <p:sp>
        <p:nvSpPr>
          <p:cNvPr id="3" name="Objectives strip"/>
          <p:cNvSpPr/>
          <p:nvPr/>
        </p:nvSpPr>
        <p:spPr>
          <a:xfrm>
            <a:off x="548640" y="1371600"/>
            <a:ext cx="11091672" cy="1051560"/>
          </a:xfrm>
          <a:prstGeom prst="roundRect">
            <a:avLst>
              <a:gd name="adj" fmla="val 10435"/>
            </a:avLst>
          </a:prstGeom>
          <a:solidFill>
            <a:schemeClr val="bg2"/>
          </a:solidFill>
          <a:ln/>
        </p:spPr>
      </p:sp>
      <p:sp>
        <p:nvSpPr>
          <p:cNvPr id="4" name="Objectives label"/>
          <p:cNvSpPr txBox="1"/>
          <p:nvPr/>
        </p:nvSpPr>
        <p:spPr>
          <a:xfrm>
            <a:off x="777240" y="1371600"/>
            <a:ext cx="1463040" cy="1051560"/>
          </a:xfrm>
          <a:prstGeom prst="rect">
            <a:avLst/>
          </a:prstGeom>
          <a:noFill/>
          <a:ln/>
        </p:spPr>
        <p:txBody>
          <a:bodyPr wrap="square" lIns="0" tIns="0" rIns="0" bIns="0" rtlCol="0" anchor="ctr"/>
          <a:lstStyle/>
          <a:p>
            <a:pPr algn="l" indent="0" marL="0">
              <a:buNone/>
            </a:pPr>
            <a:r>
              <a:rPr lang="en-US" sz="1600" b="1" dirty="0">
                <a:solidFill>
                  <a:schemeClr val="accent1"/>
                </a:solidFill>
              </a:rPr>
              <a:t>System objectives</a:t>
            </a:r>
            <a:endParaRPr lang="en-US" sz="1600" dirty="0"/>
          </a:p>
        </p:txBody>
      </p:sp>
      <p:sp>
        <p:nvSpPr>
          <p:cNvPr id="5" name="Objective 1 circle"/>
          <p:cNvSpPr/>
          <p:nvPr/>
        </p:nvSpPr>
        <p:spPr>
          <a:xfrm>
            <a:off x="2377440" y="1673352"/>
            <a:ext cx="457200" cy="457200"/>
          </a:xfrm>
          <a:prstGeom prst="ellipse">
            <a:avLst/>
          </a:prstGeom>
          <a:solidFill>
            <a:schemeClr val="accent1"/>
          </a:solidFill>
          <a:ln/>
        </p:spPr>
      </p:sp>
      <p:pic>
        <p:nvPicPr>
          <p:cNvPr id="6" name="Objective 1 icon" descr="Objective 1">    </p:cNvPr>
          <p:cNvPicPr>
            <a:picLocks noChangeAspect="1"/>
          </p:cNvPicPr>
          <p:nvPr/>
        </p:nvPicPr>
        <p:blipFill>
          <a:blip r:embed="rId1"/>
          <a:stretch>
            <a:fillRect/>
          </a:stretch>
        </p:blipFill>
        <p:spPr>
          <a:xfrm>
            <a:off x="2491740" y="1787652"/>
            <a:ext cx="228600" cy="228600"/>
          </a:xfrm>
          <a:prstGeom prst="rect">
            <a:avLst/>
          </a:prstGeom>
        </p:spPr>
      </p:pic>
      <p:sp>
        <p:nvSpPr>
          <p:cNvPr id="7" name="Objective text 1"/>
          <p:cNvSpPr txBox="1"/>
          <p:nvPr/>
        </p:nvSpPr>
        <p:spPr>
          <a:xfrm>
            <a:off x="2971800" y="1371600"/>
            <a:ext cx="2286000" cy="1051560"/>
          </a:xfrm>
          <a:prstGeom prst="rect">
            <a:avLst/>
          </a:prstGeom>
          <a:noFill/>
          <a:ln/>
        </p:spPr>
        <p:txBody>
          <a:bodyPr wrap="square" lIns="0" tIns="0" rIns="0" bIns="0" rtlCol="0" anchor="ctr"/>
          <a:lstStyle/>
          <a:p>
            <a:pPr algn="l" indent="0" marL="0">
              <a:buNone/>
            </a:pPr>
            <a:r>
              <a:rPr lang="en-US" sz="1400" dirty="0">
                <a:solidFill>
                  <a:schemeClr val="tx1"/>
                </a:solidFill>
              </a:rPr>
              <a:t>Cut energy use and carbon emissions</a:t>
            </a:r>
            <a:endParaRPr lang="en-US" sz="1400" dirty="0"/>
          </a:p>
        </p:txBody>
      </p:sp>
      <p:sp>
        <p:nvSpPr>
          <p:cNvPr id="8" name="Objective 2 circle"/>
          <p:cNvSpPr/>
          <p:nvPr/>
        </p:nvSpPr>
        <p:spPr>
          <a:xfrm>
            <a:off x="5394960" y="1673352"/>
            <a:ext cx="457200" cy="457200"/>
          </a:xfrm>
          <a:prstGeom prst="ellipse">
            <a:avLst/>
          </a:prstGeom>
          <a:solidFill>
            <a:schemeClr val="accent1"/>
          </a:solidFill>
          <a:ln/>
        </p:spPr>
      </p:sp>
      <p:pic>
        <p:nvPicPr>
          <p:cNvPr id="9" name="Objective 2 icon" descr="Objective 2">    </p:cNvPr>
          <p:cNvPicPr>
            <a:picLocks noChangeAspect="1"/>
          </p:cNvPicPr>
          <p:nvPr/>
        </p:nvPicPr>
        <p:blipFill>
          <a:blip r:embed="rId2"/>
          <a:stretch>
            <a:fillRect/>
          </a:stretch>
        </p:blipFill>
        <p:spPr>
          <a:xfrm>
            <a:off x="5509260" y="1787652"/>
            <a:ext cx="228600" cy="228600"/>
          </a:xfrm>
          <a:prstGeom prst="rect">
            <a:avLst/>
          </a:prstGeom>
        </p:spPr>
      </p:pic>
      <p:sp>
        <p:nvSpPr>
          <p:cNvPr id="10" name="Objective text 2"/>
          <p:cNvSpPr txBox="1"/>
          <p:nvPr/>
        </p:nvSpPr>
        <p:spPr>
          <a:xfrm>
            <a:off x="5989320" y="1371600"/>
            <a:ext cx="2286000" cy="1051560"/>
          </a:xfrm>
          <a:prstGeom prst="rect">
            <a:avLst/>
          </a:prstGeom>
          <a:noFill/>
          <a:ln/>
        </p:spPr>
        <p:txBody>
          <a:bodyPr wrap="square" lIns="0" tIns="0" rIns="0" bIns="0" rtlCol="0" anchor="ctr"/>
          <a:lstStyle/>
          <a:p>
            <a:pPr algn="l" indent="0" marL="0">
              <a:buNone/>
            </a:pPr>
            <a:r>
              <a:rPr lang="en-US" sz="1400" dirty="0">
                <a:solidFill>
                  <a:schemeClr val="tx1"/>
                </a:solidFill>
              </a:rPr>
              <a:t>Reduce waste and recover materials</a:t>
            </a:r>
            <a:endParaRPr lang="en-US" sz="1400" dirty="0"/>
          </a:p>
        </p:txBody>
      </p:sp>
      <p:sp>
        <p:nvSpPr>
          <p:cNvPr id="11" name="Objective 3 circle"/>
          <p:cNvSpPr/>
          <p:nvPr/>
        </p:nvSpPr>
        <p:spPr>
          <a:xfrm>
            <a:off x="8412480" y="1673352"/>
            <a:ext cx="457200" cy="457200"/>
          </a:xfrm>
          <a:prstGeom prst="ellipse">
            <a:avLst/>
          </a:prstGeom>
          <a:solidFill>
            <a:schemeClr val="accent1"/>
          </a:solidFill>
          <a:ln/>
        </p:spPr>
      </p:sp>
      <p:pic>
        <p:nvPicPr>
          <p:cNvPr id="12" name="Objective 3 icon" descr="Objective 3">    </p:cNvPr>
          <p:cNvPicPr>
            <a:picLocks noChangeAspect="1"/>
          </p:cNvPicPr>
          <p:nvPr/>
        </p:nvPicPr>
        <p:blipFill>
          <a:blip r:embed="rId3"/>
          <a:stretch>
            <a:fillRect/>
          </a:stretch>
        </p:blipFill>
        <p:spPr>
          <a:xfrm>
            <a:off x="8526780" y="1787652"/>
            <a:ext cx="228600" cy="228600"/>
          </a:xfrm>
          <a:prstGeom prst="rect">
            <a:avLst/>
          </a:prstGeom>
        </p:spPr>
      </p:pic>
      <p:sp>
        <p:nvSpPr>
          <p:cNvPr id="13" name="Objective text 3"/>
          <p:cNvSpPr txBox="1"/>
          <p:nvPr/>
        </p:nvSpPr>
        <p:spPr>
          <a:xfrm>
            <a:off x="9006840" y="1371600"/>
            <a:ext cx="2286000" cy="1051560"/>
          </a:xfrm>
          <a:prstGeom prst="rect">
            <a:avLst/>
          </a:prstGeom>
          <a:noFill/>
          <a:ln/>
        </p:spPr>
        <p:txBody>
          <a:bodyPr wrap="square" lIns="0" tIns="0" rIns="0" bIns="0" rtlCol="0" anchor="ctr"/>
          <a:lstStyle/>
          <a:p>
            <a:pPr algn="l" indent="0" marL="0">
              <a:buNone/>
            </a:pPr>
            <a:r>
              <a:rPr lang="en-US" sz="1400" dirty="0">
                <a:solidFill>
                  <a:schemeClr val="tx1"/>
                </a:solidFill>
              </a:rPr>
              <a:t>Monitor environmental impact in real time</a:t>
            </a:r>
            <a:endParaRPr lang="en-US" sz="1400" dirty="0"/>
          </a:p>
        </p:txBody>
      </p:sp>
      <p:sp>
        <p:nvSpPr>
          <p:cNvPr id="14" name="Component card 1"/>
          <p:cNvSpPr/>
          <p:nvPr/>
        </p:nvSpPr>
        <p:spPr>
          <a:xfrm>
            <a:off x="548640" y="2743200"/>
            <a:ext cx="1828800" cy="2926080"/>
          </a:xfrm>
          <a:prstGeom prst="roundRect">
            <a:avLst>
              <a:gd name="adj" fmla="val 6000"/>
            </a:avLst>
          </a:prstGeom>
          <a:solidFill>
            <a:schemeClr val="bg2"/>
          </a:solidFill>
          <a:ln/>
        </p:spPr>
      </p:sp>
      <p:sp>
        <p:nvSpPr>
          <p:cNvPr id="15" name="Component 1 circle"/>
          <p:cNvSpPr/>
          <p:nvPr/>
        </p:nvSpPr>
        <p:spPr>
          <a:xfrm>
            <a:off x="685800" y="2971800"/>
            <a:ext cx="640080" cy="640080"/>
          </a:xfrm>
          <a:prstGeom prst="ellipse">
            <a:avLst/>
          </a:prstGeom>
          <a:solidFill>
            <a:schemeClr val="accent1"/>
          </a:solidFill>
          <a:ln/>
        </p:spPr>
      </p:sp>
      <p:pic>
        <p:nvPicPr>
          <p:cNvPr id="16" name="Component 1 icon" descr="Component 1">    </p:cNvPr>
          <p:cNvPicPr>
            <a:picLocks noChangeAspect="1"/>
          </p:cNvPicPr>
          <p:nvPr/>
        </p:nvPicPr>
        <p:blipFill>
          <a:blip r:embed="rId4"/>
          <a:stretch>
            <a:fillRect/>
          </a:stretch>
        </p:blipFill>
        <p:spPr>
          <a:xfrm>
            <a:off x="845820" y="3131820"/>
            <a:ext cx="320040" cy="320040"/>
          </a:xfrm>
          <a:prstGeom prst="rect">
            <a:avLst/>
          </a:prstGeom>
        </p:spPr>
      </p:pic>
      <p:sp>
        <p:nvSpPr>
          <p:cNvPr id="17" name="Component title 1"/>
          <p:cNvSpPr txBox="1"/>
          <p:nvPr/>
        </p:nvSpPr>
        <p:spPr>
          <a:xfrm>
            <a:off x="685800" y="3749040"/>
            <a:ext cx="1600200" cy="822960"/>
          </a:xfrm>
          <a:prstGeom prst="rect">
            <a:avLst/>
          </a:prstGeom>
          <a:noFill/>
          <a:ln/>
        </p:spPr>
        <p:txBody>
          <a:bodyPr wrap="square" lIns="0" tIns="0" rIns="0" bIns="0" rtlCol="0" anchor="t"/>
          <a:lstStyle/>
          <a:p>
            <a:pPr algn="l" indent="0" marL="0">
              <a:buNone/>
            </a:pPr>
            <a:r>
              <a:rPr lang="en-US" sz="1500" b="1" dirty="0">
                <a:solidFill>
                  <a:schemeClr val="tx2"/>
                </a:solidFill>
              </a:rPr>
              <a:t>Data Collection &amp; Integration</a:t>
            </a:r>
            <a:endParaRPr lang="en-US" sz="1500" dirty="0"/>
          </a:p>
        </p:txBody>
      </p:sp>
      <p:sp>
        <p:nvSpPr>
          <p:cNvPr id="18" name="Component text 1"/>
          <p:cNvSpPr txBox="1"/>
          <p:nvPr/>
        </p:nvSpPr>
        <p:spPr>
          <a:xfrm>
            <a:off x="685800" y="4434840"/>
            <a:ext cx="1600200" cy="1097280"/>
          </a:xfrm>
          <a:prstGeom prst="rect">
            <a:avLst/>
          </a:prstGeom>
          <a:noFill/>
          <a:ln/>
        </p:spPr>
        <p:txBody>
          <a:bodyPr wrap="square" lIns="0" tIns="0" rIns="0" bIns="0" rtlCol="0" anchor="t"/>
          <a:lstStyle/>
          <a:p>
            <a:pPr algn="l" indent="0" marL="0">
              <a:buNone/>
            </a:pPr>
            <a:r>
              <a:rPr lang="en-US" sz="1400" dirty="0">
                <a:solidFill>
                  <a:schemeClr val="tx1"/>
                </a:solidFill>
              </a:rPr>
              <a:t>Sensors, meters and ERP feed one shared data layer</a:t>
            </a:r>
            <a:endParaRPr lang="en-US" sz="1400" dirty="0"/>
          </a:p>
        </p:txBody>
      </p:sp>
      <p:sp>
        <p:nvSpPr>
          <p:cNvPr id="19" name="arrow"/>
          <p:cNvSpPr/>
          <p:nvPr/>
        </p:nvSpPr>
        <p:spPr>
          <a:xfrm>
            <a:off x="2450592" y="3108960"/>
            <a:ext cx="338328" cy="365760"/>
          </a:xfrm>
          <a:prstGeom prst="rightArrow">
            <a:avLst/>
          </a:prstGeom>
          <a:solidFill>
            <a:schemeClr val="accent2"/>
          </a:solidFill>
          <a:ln/>
        </p:spPr>
      </p:sp>
      <p:sp>
        <p:nvSpPr>
          <p:cNvPr id="20" name="Component card 2"/>
          <p:cNvSpPr/>
          <p:nvPr/>
        </p:nvSpPr>
        <p:spPr>
          <a:xfrm>
            <a:off x="2862072" y="2743200"/>
            <a:ext cx="1828800" cy="2926080"/>
          </a:xfrm>
          <a:prstGeom prst="roundRect">
            <a:avLst>
              <a:gd name="adj" fmla="val 6000"/>
            </a:avLst>
          </a:prstGeom>
          <a:solidFill>
            <a:schemeClr val="bg2"/>
          </a:solidFill>
          <a:ln/>
        </p:spPr>
      </p:sp>
      <p:sp>
        <p:nvSpPr>
          <p:cNvPr id="21" name="Component 2 circle"/>
          <p:cNvSpPr/>
          <p:nvPr/>
        </p:nvSpPr>
        <p:spPr>
          <a:xfrm>
            <a:off x="2999232" y="2971800"/>
            <a:ext cx="640080" cy="640080"/>
          </a:xfrm>
          <a:prstGeom prst="ellipse">
            <a:avLst/>
          </a:prstGeom>
          <a:solidFill>
            <a:schemeClr val="accent1"/>
          </a:solidFill>
          <a:ln/>
        </p:spPr>
      </p:sp>
      <p:pic>
        <p:nvPicPr>
          <p:cNvPr id="22" name="Component 2 icon" descr="Component 2">    </p:cNvPr>
          <p:cNvPicPr>
            <a:picLocks noChangeAspect="1"/>
          </p:cNvPicPr>
          <p:nvPr/>
        </p:nvPicPr>
        <p:blipFill>
          <a:blip r:embed="rId5"/>
          <a:stretch>
            <a:fillRect/>
          </a:stretch>
        </p:blipFill>
        <p:spPr>
          <a:xfrm>
            <a:off x="3159252" y="3131820"/>
            <a:ext cx="320040" cy="320040"/>
          </a:xfrm>
          <a:prstGeom prst="rect">
            <a:avLst/>
          </a:prstGeom>
        </p:spPr>
      </p:pic>
      <p:sp>
        <p:nvSpPr>
          <p:cNvPr id="23" name="Component title 2"/>
          <p:cNvSpPr txBox="1"/>
          <p:nvPr/>
        </p:nvSpPr>
        <p:spPr>
          <a:xfrm>
            <a:off x="2999232" y="3749040"/>
            <a:ext cx="1600200" cy="822960"/>
          </a:xfrm>
          <a:prstGeom prst="rect">
            <a:avLst/>
          </a:prstGeom>
          <a:noFill/>
          <a:ln/>
        </p:spPr>
        <p:txBody>
          <a:bodyPr wrap="square" lIns="0" tIns="0" rIns="0" bIns="0" rtlCol="0" anchor="t"/>
          <a:lstStyle/>
          <a:p>
            <a:pPr algn="l" indent="0" marL="0">
              <a:buNone/>
            </a:pPr>
            <a:r>
              <a:rPr lang="en-US" sz="1500" b="1" dirty="0">
                <a:solidFill>
                  <a:schemeClr val="tx2"/>
                </a:solidFill>
              </a:rPr>
              <a:t>Knowledge Graph</a:t>
            </a:r>
            <a:endParaRPr lang="en-US" sz="1500" dirty="0"/>
          </a:p>
        </p:txBody>
      </p:sp>
      <p:sp>
        <p:nvSpPr>
          <p:cNvPr id="24" name="Component text 2"/>
          <p:cNvSpPr txBox="1"/>
          <p:nvPr/>
        </p:nvSpPr>
        <p:spPr>
          <a:xfrm>
            <a:off x="2999232" y="4434840"/>
            <a:ext cx="1600200" cy="1097280"/>
          </a:xfrm>
          <a:prstGeom prst="rect">
            <a:avLst/>
          </a:prstGeom>
          <a:noFill/>
          <a:ln/>
        </p:spPr>
        <p:txBody>
          <a:bodyPr wrap="square" lIns="0" tIns="0" rIns="0" bIns="0" rtlCol="0" anchor="t"/>
          <a:lstStyle/>
          <a:p>
            <a:pPr algn="l" indent="0" marL="0">
              <a:buNone/>
            </a:pPr>
            <a:r>
              <a:rPr lang="en-US" sz="1400" dirty="0">
                <a:solidFill>
                  <a:schemeClr val="tx1"/>
                </a:solidFill>
              </a:rPr>
              <a:t>Links plants, assets and energy flows so AI can reason across them</a:t>
            </a:r>
            <a:endParaRPr lang="en-US" sz="1400" dirty="0"/>
          </a:p>
        </p:txBody>
      </p:sp>
      <p:sp>
        <p:nvSpPr>
          <p:cNvPr id="25" name="arrow"/>
          <p:cNvSpPr/>
          <p:nvPr/>
        </p:nvSpPr>
        <p:spPr>
          <a:xfrm>
            <a:off x="4764024" y="3108960"/>
            <a:ext cx="338328" cy="365760"/>
          </a:xfrm>
          <a:prstGeom prst="rightArrow">
            <a:avLst/>
          </a:prstGeom>
          <a:solidFill>
            <a:schemeClr val="accent2"/>
          </a:solidFill>
          <a:ln/>
        </p:spPr>
      </p:sp>
      <p:sp>
        <p:nvSpPr>
          <p:cNvPr id="26" name="Component card 3"/>
          <p:cNvSpPr/>
          <p:nvPr/>
        </p:nvSpPr>
        <p:spPr>
          <a:xfrm>
            <a:off x="5175504" y="2743200"/>
            <a:ext cx="1828800" cy="2926080"/>
          </a:xfrm>
          <a:prstGeom prst="roundRect">
            <a:avLst>
              <a:gd name="adj" fmla="val 6000"/>
            </a:avLst>
          </a:prstGeom>
          <a:solidFill>
            <a:schemeClr val="bg2"/>
          </a:solidFill>
          <a:ln/>
        </p:spPr>
      </p:sp>
      <p:sp>
        <p:nvSpPr>
          <p:cNvPr id="27" name="Component 3 circle"/>
          <p:cNvSpPr/>
          <p:nvPr/>
        </p:nvSpPr>
        <p:spPr>
          <a:xfrm>
            <a:off x="5312664" y="2971800"/>
            <a:ext cx="640080" cy="640080"/>
          </a:xfrm>
          <a:prstGeom prst="ellipse">
            <a:avLst/>
          </a:prstGeom>
          <a:solidFill>
            <a:schemeClr val="accent1"/>
          </a:solidFill>
          <a:ln/>
        </p:spPr>
      </p:sp>
      <p:pic>
        <p:nvPicPr>
          <p:cNvPr id="28" name="Component 3 icon" descr="Component 3">    </p:cNvPr>
          <p:cNvPicPr>
            <a:picLocks noChangeAspect="1"/>
          </p:cNvPicPr>
          <p:nvPr/>
        </p:nvPicPr>
        <p:blipFill>
          <a:blip r:embed="rId6"/>
          <a:stretch>
            <a:fillRect/>
          </a:stretch>
        </p:blipFill>
        <p:spPr>
          <a:xfrm>
            <a:off x="5472684" y="3131820"/>
            <a:ext cx="320040" cy="320040"/>
          </a:xfrm>
          <a:prstGeom prst="rect">
            <a:avLst/>
          </a:prstGeom>
        </p:spPr>
      </p:pic>
      <p:sp>
        <p:nvSpPr>
          <p:cNvPr id="29" name="Component title 3"/>
          <p:cNvSpPr txBox="1"/>
          <p:nvPr/>
        </p:nvSpPr>
        <p:spPr>
          <a:xfrm>
            <a:off x="5312664" y="3749040"/>
            <a:ext cx="1600200" cy="822960"/>
          </a:xfrm>
          <a:prstGeom prst="rect">
            <a:avLst/>
          </a:prstGeom>
          <a:noFill/>
          <a:ln/>
        </p:spPr>
        <p:txBody>
          <a:bodyPr wrap="square" lIns="0" tIns="0" rIns="0" bIns="0" rtlCol="0" anchor="t"/>
          <a:lstStyle/>
          <a:p>
            <a:pPr algn="l" indent="0" marL="0">
              <a:buNone/>
            </a:pPr>
            <a:r>
              <a:rPr lang="en-US" sz="1500" b="1" dirty="0">
                <a:solidFill>
                  <a:schemeClr val="tx2"/>
                </a:solidFill>
              </a:rPr>
              <a:t>Rule-Based System</a:t>
            </a:r>
            <a:endParaRPr lang="en-US" sz="1500" dirty="0"/>
          </a:p>
        </p:txBody>
      </p:sp>
      <p:sp>
        <p:nvSpPr>
          <p:cNvPr id="30" name="Component text 3"/>
          <p:cNvSpPr txBox="1"/>
          <p:nvPr/>
        </p:nvSpPr>
        <p:spPr>
          <a:xfrm>
            <a:off x="5312664" y="4434840"/>
            <a:ext cx="1600200" cy="1097280"/>
          </a:xfrm>
          <a:prstGeom prst="rect">
            <a:avLst/>
          </a:prstGeom>
          <a:noFill/>
          <a:ln/>
        </p:spPr>
        <p:txBody>
          <a:bodyPr wrap="square" lIns="0" tIns="0" rIns="0" bIns="0" rtlCol="0" anchor="t"/>
          <a:lstStyle/>
          <a:p>
            <a:pPr algn="l" indent="0" marL="0">
              <a:buNone/>
            </a:pPr>
            <a:r>
              <a:rPr lang="en-US" sz="1400" dirty="0">
                <a:solidFill>
                  <a:schemeClr val="tx1"/>
                </a:solidFill>
              </a:rPr>
              <a:t>Encodes emission caps and safe operating limits</a:t>
            </a:r>
            <a:endParaRPr lang="en-US" sz="1400" dirty="0"/>
          </a:p>
        </p:txBody>
      </p:sp>
      <p:sp>
        <p:nvSpPr>
          <p:cNvPr id="31" name="arrow"/>
          <p:cNvSpPr/>
          <p:nvPr/>
        </p:nvSpPr>
        <p:spPr>
          <a:xfrm>
            <a:off x="7077456" y="3108960"/>
            <a:ext cx="338328" cy="365760"/>
          </a:xfrm>
          <a:prstGeom prst="rightArrow">
            <a:avLst/>
          </a:prstGeom>
          <a:solidFill>
            <a:schemeClr val="accent2"/>
          </a:solidFill>
          <a:ln/>
        </p:spPr>
      </p:sp>
      <p:sp>
        <p:nvSpPr>
          <p:cNvPr id="32" name="Component card 4"/>
          <p:cNvSpPr/>
          <p:nvPr/>
        </p:nvSpPr>
        <p:spPr>
          <a:xfrm>
            <a:off x="7488936" y="2743200"/>
            <a:ext cx="1828800" cy="2926080"/>
          </a:xfrm>
          <a:prstGeom prst="roundRect">
            <a:avLst>
              <a:gd name="adj" fmla="val 6000"/>
            </a:avLst>
          </a:prstGeom>
          <a:solidFill>
            <a:schemeClr val="bg2"/>
          </a:solidFill>
          <a:ln/>
        </p:spPr>
      </p:sp>
      <p:sp>
        <p:nvSpPr>
          <p:cNvPr id="33" name="Component 4 circle"/>
          <p:cNvSpPr/>
          <p:nvPr/>
        </p:nvSpPr>
        <p:spPr>
          <a:xfrm>
            <a:off x="7626096" y="2971800"/>
            <a:ext cx="640080" cy="640080"/>
          </a:xfrm>
          <a:prstGeom prst="ellipse">
            <a:avLst/>
          </a:prstGeom>
          <a:solidFill>
            <a:schemeClr val="accent1"/>
          </a:solidFill>
          <a:ln/>
        </p:spPr>
      </p:sp>
      <p:pic>
        <p:nvPicPr>
          <p:cNvPr id="34" name="Component 4 icon" descr="Component 4">    </p:cNvPr>
          <p:cNvPicPr>
            <a:picLocks noChangeAspect="1"/>
          </p:cNvPicPr>
          <p:nvPr/>
        </p:nvPicPr>
        <p:blipFill>
          <a:blip r:embed="rId7"/>
          <a:stretch>
            <a:fillRect/>
          </a:stretch>
        </p:blipFill>
        <p:spPr>
          <a:xfrm>
            <a:off x="7786116" y="3131820"/>
            <a:ext cx="320040" cy="320040"/>
          </a:xfrm>
          <a:prstGeom prst="rect">
            <a:avLst/>
          </a:prstGeom>
        </p:spPr>
      </p:pic>
      <p:sp>
        <p:nvSpPr>
          <p:cNvPr id="35" name="Component title 4"/>
          <p:cNvSpPr txBox="1"/>
          <p:nvPr/>
        </p:nvSpPr>
        <p:spPr>
          <a:xfrm>
            <a:off x="7626096" y="3749040"/>
            <a:ext cx="1600200" cy="822960"/>
          </a:xfrm>
          <a:prstGeom prst="rect">
            <a:avLst/>
          </a:prstGeom>
          <a:noFill/>
          <a:ln/>
        </p:spPr>
        <p:txBody>
          <a:bodyPr wrap="square" lIns="0" tIns="0" rIns="0" bIns="0" rtlCol="0" anchor="t"/>
          <a:lstStyle/>
          <a:p>
            <a:pPr algn="l" indent="0" marL="0">
              <a:buNone/>
            </a:pPr>
            <a:r>
              <a:rPr lang="en-US" sz="1500" b="1" dirty="0">
                <a:solidFill>
                  <a:schemeClr val="tx2"/>
                </a:solidFill>
              </a:rPr>
              <a:t>Expert System</a:t>
            </a:r>
            <a:endParaRPr lang="en-US" sz="1500" dirty="0"/>
          </a:p>
        </p:txBody>
      </p:sp>
      <p:sp>
        <p:nvSpPr>
          <p:cNvPr id="36" name="Component text 4"/>
          <p:cNvSpPr txBox="1"/>
          <p:nvPr/>
        </p:nvSpPr>
        <p:spPr>
          <a:xfrm>
            <a:off x="7626096" y="4434840"/>
            <a:ext cx="1600200" cy="1097280"/>
          </a:xfrm>
          <a:prstGeom prst="rect">
            <a:avLst/>
          </a:prstGeom>
          <a:noFill/>
          <a:ln/>
        </p:spPr>
        <p:txBody>
          <a:bodyPr wrap="square" lIns="0" tIns="0" rIns="0" bIns="0" rtlCol="0" anchor="t"/>
          <a:lstStyle/>
          <a:p>
            <a:pPr algn="l" indent="0" marL="0">
              <a:buNone/>
            </a:pPr>
            <a:r>
              <a:rPr lang="en-US" sz="1400" dirty="0">
                <a:solidFill>
                  <a:schemeClr val="tx1"/>
                </a:solidFill>
              </a:rPr>
              <a:t>Turns data and rules into corrective recommendations</a:t>
            </a:r>
            <a:endParaRPr lang="en-US" sz="1400" dirty="0"/>
          </a:p>
        </p:txBody>
      </p:sp>
      <p:sp>
        <p:nvSpPr>
          <p:cNvPr id="37" name="arrow"/>
          <p:cNvSpPr/>
          <p:nvPr/>
        </p:nvSpPr>
        <p:spPr>
          <a:xfrm>
            <a:off x="9390888" y="3108960"/>
            <a:ext cx="338328" cy="365760"/>
          </a:xfrm>
          <a:prstGeom prst="rightArrow">
            <a:avLst/>
          </a:prstGeom>
          <a:solidFill>
            <a:schemeClr val="accent2"/>
          </a:solidFill>
          <a:ln/>
        </p:spPr>
      </p:sp>
      <p:sp>
        <p:nvSpPr>
          <p:cNvPr id="38" name="Component card 5"/>
          <p:cNvSpPr/>
          <p:nvPr/>
        </p:nvSpPr>
        <p:spPr>
          <a:xfrm>
            <a:off x="9802368" y="2743200"/>
            <a:ext cx="1828800" cy="2926080"/>
          </a:xfrm>
          <a:prstGeom prst="roundRect">
            <a:avLst>
              <a:gd name="adj" fmla="val 6000"/>
            </a:avLst>
          </a:prstGeom>
          <a:solidFill>
            <a:schemeClr val="bg2"/>
          </a:solidFill>
          <a:ln/>
        </p:spPr>
      </p:sp>
      <p:sp>
        <p:nvSpPr>
          <p:cNvPr id="39" name="Component 5 circle"/>
          <p:cNvSpPr/>
          <p:nvPr/>
        </p:nvSpPr>
        <p:spPr>
          <a:xfrm>
            <a:off x="9939528" y="2971800"/>
            <a:ext cx="640080" cy="640080"/>
          </a:xfrm>
          <a:prstGeom prst="ellipse">
            <a:avLst/>
          </a:prstGeom>
          <a:solidFill>
            <a:schemeClr val="accent1"/>
          </a:solidFill>
          <a:ln/>
        </p:spPr>
      </p:sp>
      <p:pic>
        <p:nvPicPr>
          <p:cNvPr id="40" name="Component 5 icon" descr="Component 5">    </p:cNvPr>
          <p:cNvPicPr>
            <a:picLocks noChangeAspect="1"/>
          </p:cNvPicPr>
          <p:nvPr/>
        </p:nvPicPr>
        <p:blipFill>
          <a:blip r:embed="rId8"/>
          <a:stretch>
            <a:fillRect/>
          </a:stretch>
        </p:blipFill>
        <p:spPr>
          <a:xfrm>
            <a:off x="10099548" y="3131820"/>
            <a:ext cx="320040" cy="320040"/>
          </a:xfrm>
          <a:prstGeom prst="rect">
            <a:avLst/>
          </a:prstGeom>
        </p:spPr>
      </p:pic>
      <p:sp>
        <p:nvSpPr>
          <p:cNvPr id="41" name="Component title 5"/>
          <p:cNvSpPr txBox="1"/>
          <p:nvPr/>
        </p:nvSpPr>
        <p:spPr>
          <a:xfrm>
            <a:off x="9939528" y="3749040"/>
            <a:ext cx="1600200" cy="822960"/>
          </a:xfrm>
          <a:prstGeom prst="rect">
            <a:avLst/>
          </a:prstGeom>
          <a:noFill/>
          <a:ln/>
        </p:spPr>
        <p:txBody>
          <a:bodyPr wrap="square" lIns="0" tIns="0" rIns="0" bIns="0" rtlCol="0" anchor="t"/>
          <a:lstStyle/>
          <a:p>
            <a:pPr algn="l" indent="0" marL="0">
              <a:buNone/>
            </a:pPr>
            <a:r>
              <a:rPr lang="en-US" sz="1500" b="1" dirty="0">
                <a:solidFill>
                  <a:schemeClr val="tx2"/>
                </a:solidFill>
              </a:rPr>
              <a:t>Sustainability Dashboard</a:t>
            </a:r>
            <a:endParaRPr lang="en-US" sz="1500" dirty="0"/>
          </a:p>
        </p:txBody>
      </p:sp>
      <p:sp>
        <p:nvSpPr>
          <p:cNvPr id="42" name="Component text 5"/>
          <p:cNvSpPr txBox="1"/>
          <p:nvPr/>
        </p:nvSpPr>
        <p:spPr>
          <a:xfrm>
            <a:off x="9939528" y="4434840"/>
            <a:ext cx="1600200" cy="1097280"/>
          </a:xfrm>
          <a:prstGeom prst="rect">
            <a:avLst/>
          </a:prstGeom>
          <a:noFill/>
          <a:ln/>
        </p:spPr>
        <p:txBody>
          <a:bodyPr wrap="square" lIns="0" tIns="0" rIns="0" bIns="0" rtlCol="0" anchor="t"/>
          <a:lstStyle/>
          <a:p>
            <a:pPr algn="l" indent="0" marL="0">
              <a:buNone/>
            </a:pPr>
            <a:r>
              <a:rPr lang="en-US" sz="1400" dirty="0">
                <a:solidFill>
                  <a:schemeClr val="tx1"/>
                </a:solidFill>
              </a:rPr>
              <a:t>One live view of energy, waste and emission KPIs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AI for Energy Optimisation</a:t>
            </a:r>
            <a:endParaRPr lang="en-US" sz="3200" dirty="0"/>
          </a:p>
        </p:txBody>
      </p:sp>
      <p:sp>
        <p:nvSpPr>
          <p:cNvPr id="3" name="ML types strip"/>
          <p:cNvSpPr/>
          <p:nvPr/>
        </p:nvSpPr>
        <p:spPr>
          <a:xfrm>
            <a:off x="548640" y="1371600"/>
            <a:ext cx="7040880" cy="868680"/>
          </a:xfrm>
          <a:prstGeom prst="roundRect">
            <a:avLst>
              <a:gd name="adj" fmla="val 12632"/>
            </a:avLst>
          </a:prstGeom>
          <a:solidFill>
            <a:schemeClr val="bg2"/>
          </a:solidFill>
          <a:ln/>
        </p:spPr>
      </p:sp>
      <p:sp>
        <p:nvSpPr>
          <p:cNvPr id="4" name="ML types label box"/>
          <p:cNvSpPr/>
          <p:nvPr/>
        </p:nvSpPr>
        <p:spPr>
          <a:xfrm>
            <a:off x="548640" y="1371600"/>
            <a:ext cx="1325880" cy="868680"/>
          </a:xfrm>
          <a:prstGeom prst="roundRect">
            <a:avLst>
              <a:gd name="adj" fmla="val 12632"/>
            </a:avLst>
          </a:prstGeom>
          <a:solidFill>
            <a:schemeClr val="accent1"/>
          </a:solidFill>
          <a:ln/>
        </p:spPr>
      </p:sp>
      <p:sp>
        <p:nvSpPr>
          <p:cNvPr id="5" name="ML types label"/>
          <p:cNvSpPr txBox="1"/>
          <p:nvPr/>
        </p:nvSpPr>
        <p:spPr>
          <a:xfrm>
            <a:off x="640080" y="1371600"/>
            <a:ext cx="1143000" cy="868680"/>
          </a:xfrm>
          <a:prstGeom prst="rect">
            <a:avLst/>
          </a:prstGeom>
          <a:noFill/>
          <a:ln/>
        </p:spPr>
        <p:txBody>
          <a:bodyPr wrap="square" lIns="0" tIns="0" rIns="0" bIns="0" rtlCol="0" anchor="ctr"/>
          <a:lstStyle/>
          <a:p>
            <a:pPr algn="l" indent="0" marL="0">
              <a:buNone/>
            </a:pPr>
            <a:r>
              <a:rPr lang="en-US" sz="1400" b="1" dirty="0">
                <a:solidFill>
                  <a:schemeClr val="bg1"/>
                </a:solidFill>
              </a:rPr>
              <a:t>Types of ML models</a:t>
            </a:r>
            <a:endParaRPr lang="en-US" sz="1400" dirty="0"/>
          </a:p>
        </p:txBody>
      </p:sp>
      <p:sp>
        <p:nvSpPr>
          <p:cNvPr id="6" name="ML type 1"/>
          <p:cNvSpPr txBox="1"/>
          <p:nvPr/>
        </p:nvSpPr>
        <p:spPr>
          <a:xfrm>
            <a:off x="2057400" y="1371600"/>
            <a:ext cx="1737360" cy="868680"/>
          </a:xfrm>
          <a:prstGeom prst="rect">
            <a:avLst/>
          </a:prstGeom>
          <a:noFill/>
          <a:ln/>
        </p:spPr>
        <p:txBody>
          <a:bodyPr wrap="square" lIns="0" tIns="0" rIns="0" bIns="0" rtlCol="0" anchor="ctr"/>
          <a:lstStyle/>
          <a:p>
            <a:pPr algn="l" indent="0" marL="0">
              <a:buNone/>
            </a:pPr>
            <a:r>
              <a:rPr lang="en-US" sz="1400" b="1" dirty="0">
                <a:solidFill>
                  <a:schemeClr val="tx2"/>
                </a:solidFill>
              </a:rPr>
              <a:t>Supervised</a:t>
            </a:r>
            <a:endParaRPr lang="en-US" sz="1400" dirty="0"/>
          </a:p>
          <a:p>
            <a:pPr algn="l" indent="0" marL="0">
              <a:buNone/>
            </a:pPr>
            <a:r>
              <a:rPr lang="en-US" sz="1200" dirty="0">
                <a:solidFill>
                  <a:schemeClr val="accent6"/>
                </a:solidFill>
              </a:rPr>
              <a:t>regression, forecasting</a:t>
            </a:r>
            <a:endParaRPr lang="en-US" sz="1400" dirty="0"/>
          </a:p>
        </p:txBody>
      </p:sp>
      <p:sp>
        <p:nvSpPr>
          <p:cNvPr id="7" name="ML type 2"/>
          <p:cNvSpPr txBox="1"/>
          <p:nvPr/>
        </p:nvSpPr>
        <p:spPr>
          <a:xfrm>
            <a:off x="3886200" y="1371600"/>
            <a:ext cx="1737360" cy="868680"/>
          </a:xfrm>
          <a:prstGeom prst="rect">
            <a:avLst/>
          </a:prstGeom>
          <a:noFill/>
          <a:ln/>
        </p:spPr>
        <p:txBody>
          <a:bodyPr wrap="square" lIns="0" tIns="0" rIns="0" bIns="0" rtlCol="0" anchor="ctr"/>
          <a:lstStyle/>
          <a:p>
            <a:pPr algn="l" indent="0" marL="0">
              <a:buNone/>
            </a:pPr>
            <a:r>
              <a:rPr lang="en-US" sz="1400" b="1" dirty="0">
                <a:solidFill>
                  <a:schemeClr val="tx2"/>
                </a:solidFill>
              </a:rPr>
              <a:t>Unsupervised</a:t>
            </a:r>
            <a:endParaRPr lang="en-US" sz="1400" dirty="0"/>
          </a:p>
          <a:p>
            <a:pPr algn="l" indent="0" marL="0">
              <a:buNone/>
            </a:pPr>
            <a:r>
              <a:rPr lang="en-US" sz="1200" dirty="0">
                <a:solidFill>
                  <a:schemeClr val="accent6"/>
                </a:solidFill>
              </a:rPr>
              <a:t>clustering, anomalies</a:t>
            </a:r>
            <a:endParaRPr lang="en-US" sz="1400" dirty="0"/>
          </a:p>
        </p:txBody>
      </p:sp>
      <p:sp>
        <p:nvSpPr>
          <p:cNvPr id="8" name="ML type 3"/>
          <p:cNvSpPr txBox="1"/>
          <p:nvPr/>
        </p:nvSpPr>
        <p:spPr>
          <a:xfrm>
            <a:off x="5715000" y="1371600"/>
            <a:ext cx="1737360" cy="868680"/>
          </a:xfrm>
          <a:prstGeom prst="rect">
            <a:avLst/>
          </a:prstGeom>
          <a:noFill/>
          <a:ln/>
        </p:spPr>
        <p:txBody>
          <a:bodyPr wrap="square" lIns="0" tIns="0" rIns="0" bIns="0" rtlCol="0" anchor="ctr"/>
          <a:lstStyle/>
          <a:p>
            <a:pPr algn="l" indent="0" marL="0">
              <a:buNone/>
            </a:pPr>
            <a:r>
              <a:rPr lang="en-US" sz="1400" b="1" dirty="0">
                <a:solidFill>
                  <a:schemeClr val="tx2"/>
                </a:solidFill>
              </a:rPr>
              <a:t>Reinforcement</a:t>
            </a:r>
            <a:endParaRPr lang="en-US" sz="1400" dirty="0"/>
          </a:p>
          <a:p>
            <a:pPr algn="l" indent="0" marL="0">
              <a:buNone/>
            </a:pPr>
            <a:r>
              <a:rPr lang="en-US" sz="1200" dirty="0">
                <a:solidFill>
                  <a:schemeClr val="accent6"/>
                </a:solidFill>
              </a:rPr>
              <a:t>scheduling, control</a:t>
            </a:r>
            <a:endParaRPr lang="en-US" sz="1400" dirty="0"/>
          </a:p>
        </p:txBody>
      </p:sp>
      <p:sp>
        <p:nvSpPr>
          <p:cNvPr id="9" name="Energy card 1"/>
          <p:cNvSpPr/>
          <p:nvPr/>
        </p:nvSpPr>
        <p:spPr>
          <a:xfrm>
            <a:off x="548640" y="2423160"/>
            <a:ext cx="3429000" cy="1737360"/>
          </a:xfrm>
          <a:prstGeom prst="roundRect">
            <a:avLst>
              <a:gd name="adj" fmla="val 6316"/>
            </a:avLst>
          </a:prstGeom>
          <a:solidFill>
            <a:schemeClr val="bg2"/>
          </a:solidFill>
          <a:ln/>
        </p:spPr>
      </p:sp>
      <p:sp>
        <p:nvSpPr>
          <p:cNvPr id="10" name="Energy 1 circle"/>
          <p:cNvSpPr/>
          <p:nvPr/>
        </p:nvSpPr>
        <p:spPr>
          <a:xfrm>
            <a:off x="731520" y="2606040"/>
            <a:ext cx="457200" cy="457200"/>
          </a:xfrm>
          <a:prstGeom prst="ellipse">
            <a:avLst/>
          </a:prstGeom>
          <a:solidFill>
            <a:schemeClr val="accent1"/>
          </a:solidFill>
          <a:ln/>
        </p:spPr>
      </p:sp>
      <p:pic>
        <p:nvPicPr>
          <p:cNvPr id="11" name="Energy 1 icon" descr="Energy 1">    </p:cNvPr>
          <p:cNvPicPr>
            <a:picLocks noChangeAspect="1"/>
          </p:cNvPicPr>
          <p:nvPr/>
        </p:nvPicPr>
        <p:blipFill>
          <a:blip r:embed="rId1"/>
          <a:stretch>
            <a:fillRect/>
          </a:stretch>
        </p:blipFill>
        <p:spPr>
          <a:xfrm>
            <a:off x="845820" y="2720340"/>
            <a:ext cx="228600" cy="228600"/>
          </a:xfrm>
          <a:prstGeom prst="rect">
            <a:avLst/>
          </a:prstGeom>
        </p:spPr>
      </p:pic>
      <p:sp>
        <p:nvSpPr>
          <p:cNvPr id="12" name="Energy title 1"/>
          <p:cNvSpPr txBox="1"/>
          <p:nvPr/>
        </p:nvSpPr>
        <p:spPr>
          <a:xfrm>
            <a:off x="1325880" y="2606040"/>
            <a:ext cx="2468880" cy="457200"/>
          </a:xfrm>
          <a:prstGeom prst="rect">
            <a:avLst/>
          </a:prstGeom>
          <a:noFill/>
          <a:ln/>
        </p:spPr>
        <p:txBody>
          <a:bodyPr wrap="square" lIns="0" tIns="0" rIns="0" bIns="0" rtlCol="0" anchor="ctr"/>
          <a:lstStyle/>
          <a:p>
            <a:pPr algn="l" indent="0" marL="0">
              <a:buNone/>
            </a:pPr>
            <a:r>
              <a:rPr lang="en-US" sz="1600" b="1" dirty="0">
                <a:solidFill>
                  <a:schemeClr val="tx2"/>
                </a:solidFill>
              </a:rPr>
              <a:t>Demand forecasting</a:t>
            </a:r>
            <a:endParaRPr lang="en-US" sz="1600" dirty="0"/>
          </a:p>
        </p:txBody>
      </p:sp>
      <p:sp>
        <p:nvSpPr>
          <p:cNvPr id="13" name="Energy text 1"/>
          <p:cNvSpPr txBox="1"/>
          <p:nvPr/>
        </p:nvSpPr>
        <p:spPr>
          <a:xfrm>
            <a:off x="731520" y="3200400"/>
            <a:ext cx="3063240" cy="868680"/>
          </a:xfrm>
          <a:prstGeom prst="rect">
            <a:avLst/>
          </a:prstGeom>
          <a:noFill/>
          <a:ln/>
        </p:spPr>
        <p:txBody>
          <a:bodyPr wrap="square" lIns="0" tIns="0" rIns="0" bIns="0" rtlCol="0" anchor="t"/>
          <a:lstStyle/>
          <a:p>
            <a:pPr algn="l" indent="0" marL="0">
              <a:buNone/>
            </a:pPr>
            <a:r>
              <a:rPr lang="en-US" sz="1400" dirty="0">
                <a:solidFill>
                  <a:schemeClr val="tx1"/>
                </a:solidFill>
              </a:rPr>
              <a:t>Regression and time-series models predict load by hour, shift and season</a:t>
            </a:r>
            <a:endParaRPr lang="en-US" sz="1400" dirty="0"/>
          </a:p>
        </p:txBody>
      </p:sp>
      <p:sp>
        <p:nvSpPr>
          <p:cNvPr id="14" name="Energy card 2"/>
          <p:cNvSpPr/>
          <p:nvPr/>
        </p:nvSpPr>
        <p:spPr>
          <a:xfrm>
            <a:off x="4160520" y="2423160"/>
            <a:ext cx="3429000" cy="1737360"/>
          </a:xfrm>
          <a:prstGeom prst="roundRect">
            <a:avLst>
              <a:gd name="adj" fmla="val 6316"/>
            </a:avLst>
          </a:prstGeom>
          <a:solidFill>
            <a:schemeClr val="bg2"/>
          </a:solidFill>
          <a:ln/>
        </p:spPr>
      </p:sp>
      <p:sp>
        <p:nvSpPr>
          <p:cNvPr id="15" name="Energy 2 circle"/>
          <p:cNvSpPr/>
          <p:nvPr/>
        </p:nvSpPr>
        <p:spPr>
          <a:xfrm>
            <a:off x="4343400" y="2606040"/>
            <a:ext cx="457200" cy="457200"/>
          </a:xfrm>
          <a:prstGeom prst="ellipse">
            <a:avLst/>
          </a:prstGeom>
          <a:solidFill>
            <a:schemeClr val="accent1"/>
          </a:solidFill>
          <a:ln/>
        </p:spPr>
      </p:sp>
      <p:pic>
        <p:nvPicPr>
          <p:cNvPr id="16" name="Energy 2 icon" descr="Energy 2">    </p:cNvPr>
          <p:cNvPicPr>
            <a:picLocks noChangeAspect="1"/>
          </p:cNvPicPr>
          <p:nvPr/>
        </p:nvPicPr>
        <p:blipFill>
          <a:blip r:embed="rId2"/>
          <a:stretch>
            <a:fillRect/>
          </a:stretch>
        </p:blipFill>
        <p:spPr>
          <a:xfrm>
            <a:off x="4457700" y="2720340"/>
            <a:ext cx="228600" cy="228600"/>
          </a:xfrm>
          <a:prstGeom prst="rect">
            <a:avLst/>
          </a:prstGeom>
        </p:spPr>
      </p:pic>
      <p:sp>
        <p:nvSpPr>
          <p:cNvPr id="17" name="Energy title 2"/>
          <p:cNvSpPr txBox="1"/>
          <p:nvPr/>
        </p:nvSpPr>
        <p:spPr>
          <a:xfrm>
            <a:off x="4937760" y="2606040"/>
            <a:ext cx="2468880" cy="457200"/>
          </a:xfrm>
          <a:prstGeom prst="rect">
            <a:avLst/>
          </a:prstGeom>
          <a:noFill/>
          <a:ln/>
        </p:spPr>
        <p:txBody>
          <a:bodyPr wrap="square" lIns="0" tIns="0" rIns="0" bIns="0" rtlCol="0" anchor="ctr"/>
          <a:lstStyle/>
          <a:p>
            <a:pPr algn="l" indent="0" marL="0">
              <a:buNone/>
            </a:pPr>
            <a:r>
              <a:rPr lang="en-US" sz="1600" b="1" dirty="0">
                <a:solidFill>
                  <a:schemeClr val="tx2"/>
                </a:solidFill>
              </a:rPr>
              <a:t>Clustering</a:t>
            </a:r>
            <a:endParaRPr lang="en-US" sz="1600" dirty="0"/>
          </a:p>
        </p:txBody>
      </p:sp>
      <p:sp>
        <p:nvSpPr>
          <p:cNvPr id="18" name="Energy text 2"/>
          <p:cNvSpPr txBox="1"/>
          <p:nvPr/>
        </p:nvSpPr>
        <p:spPr>
          <a:xfrm>
            <a:off x="4343400" y="3200400"/>
            <a:ext cx="3063240" cy="868680"/>
          </a:xfrm>
          <a:prstGeom prst="rect">
            <a:avLst/>
          </a:prstGeom>
          <a:noFill/>
          <a:ln/>
        </p:spPr>
        <p:txBody>
          <a:bodyPr wrap="square" lIns="0" tIns="0" rIns="0" bIns="0" rtlCol="0" anchor="t"/>
          <a:lstStyle/>
          <a:p>
            <a:pPr algn="l" indent="0" marL="0">
              <a:buNone/>
            </a:pPr>
            <a:r>
              <a:rPr lang="en-US" sz="1400" dirty="0">
                <a:solidFill>
                  <a:schemeClr val="tx1"/>
                </a:solidFill>
              </a:rPr>
              <a:t>Groups similar machines and sites by consumption pattern to find savings</a:t>
            </a:r>
            <a:endParaRPr lang="en-US" sz="1400" dirty="0"/>
          </a:p>
        </p:txBody>
      </p:sp>
      <p:sp>
        <p:nvSpPr>
          <p:cNvPr id="19" name="Energy card 3"/>
          <p:cNvSpPr/>
          <p:nvPr/>
        </p:nvSpPr>
        <p:spPr>
          <a:xfrm>
            <a:off x="548640" y="4343400"/>
            <a:ext cx="3429000" cy="1737360"/>
          </a:xfrm>
          <a:prstGeom prst="roundRect">
            <a:avLst>
              <a:gd name="adj" fmla="val 6316"/>
            </a:avLst>
          </a:prstGeom>
          <a:solidFill>
            <a:schemeClr val="bg2"/>
          </a:solidFill>
          <a:ln/>
        </p:spPr>
      </p:sp>
      <p:sp>
        <p:nvSpPr>
          <p:cNvPr id="20" name="Energy 3 circle"/>
          <p:cNvSpPr/>
          <p:nvPr/>
        </p:nvSpPr>
        <p:spPr>
          <a:xfrm>
            <a:off x="731520" y="4526280"/>
            <a:ext cx="457200" cy="457200"/>
          </a:xfrm>
          <a:prstGeom prst="ellipse">
            <a:avLst/>
          </a:prstGeom>
          <a:solidFill>
            <a:schemeClr val="accent1"/>
          </a:solidFill>
          <a:ln/>
        </p:spPr>
      </p:sp>
      <p:pic>
        <p:nvPicPr>
          <p:cNvPr id="21" name="Energy 3 icon" descr="Energy 3">    </p:cNvPr>
          <p:cNvPicPr>
            <a:picLocks noChangeAspect="1"/>
          </p:cNvPicPr>
          <p:nvPr/>
        </p:nvPicPr>
        <p:blipFill>
          <a:blip r:embed="rId3"/>
          <a:stretch>
            <a:fillRect/>
          </a:stretch>
        </p:blipFill>
        <p:spPr>
          <a:xfrm>
            <a:off x="845820" y="4640580"/>
            <a:ext cx="228600" cy="228600"/>
          </a:xfrm>
          <a:prstGeom prst="rect">
            <a:avLst/>
          </a:prstGeom>
        </p:spPr>
      </p:pic>
      <p:sp>
        <p:nvSpPr>
          <p:cNvPr id="22" name="Energy title 3"/>
          <p:cNvSpPr txBox="1"/>
          <p:nvPr/>
        </p:nvSpPr>
        <p:spPr>
          <a:xfrm>
            <a:off x="1325880" y="4526280"/>
            <a:ext cx="2468880" cy="457200"/>
          </a:xfrm>
          <a:prstGeom prst="rect">
            <a:avLst/>
          </a:prstGeom>
          <a:noFill/>
          <a:ln/>
        </p:spPr>
        <p:txBody>
          <a:bodyPr wrap="square" lIns="0" tIns="0" rIns="0" bIns="0" rtlCol="0" anchor="ctr"/>
          <a:lstStyle/>
          <a:p>
            <a:pPr algn="l" indent="0" marL="0">
              <a:buNone/>
            </a:pPr>
            <a:r>
              <a:rPr lang="en-US" sz="1600" b="1" dirty="0">
                <a:solidFill>
                  <a:schemeClr val="tx2"/>
                </a:solidFill>
              </a:rPr>
              <a:t>Anomaly detection</a:t>
            </a:r>
            <a:endParaRPr lang="en-US" sz="1600" dirty="0"/>
          </a:p>
        </p:txBody>
      </p:sp>
      <p:sp>
        <p:nvSpPr>
          <p:cNvPr id="23" name="Energy text 3"/>
          <p:cNvSpPr txBox="1"/>
          <p:nvPr/>
        </p:nvSpPr>
        <p:spPr>
          <a:xfrm>
            <a:off x="731520" y="5120640"/>
            <a:ext cx="3063240" cy="868680"/>
          </a:xfrm>
          <a:prstGeom prst="rect">
            <a:avLst/>
          </a:prstGeom>
          <a:noFill/>
          <a:ln/>
        </p:spPr>
        <p:txBody>
          <a:bodyPr wrap="square" lIns="0" tIns="0" rIns="0" bIns="0" rtlCol="0" anchor="t"/>
          <a:lstStyle/>
          <a:p>
            <a:pPr algn="l" indent="0" marL="0">
              <a:buNone/>
            </a:pPr>
            <a:r>
              <a:rPr lang="en-US" sz="1400" dirty="0">
                <a:solidFill>
                  <a:schemeClr val="tx1"/>
                </a:solidFill>
              </a:rPr>
              <a:t>Flags unusual spikes caused by leaks, idle running or faulty equipment</a:t>
            </a:r>
            <a:endParaRPr lang="en-US" sz="1400" dirty="0"/>
          </a:p>
        </p:txBody>
      </p:sp>
      <p:sp>
        <p:nvSpPr>
          <p:cNvPr id="24" name="Energy card 4"/>
          <p:cNvSpPr/>
          <p:nvPr/>
        </p:nvSpPr>
        <p:spPr>
          <a:xfrm>
            <a:off x="4160520" y="4343400"/>
            <a:ext cx="3429000" cy="1737360"/>
          </a:xfrm>
          <a:prstGeom prst="roundRect">
            <a:avLst>
              <a:gd name="adj" fmla="val 6316"/>
            </a:avLst>
          </a:prstGeom>
          <a:solidFill>
            <a:schemeClr val="bg2"/>
          </a:solidFill>
          <a:ln/>
        </p:spPr>
      </p:sp>
      <p:sp>
        <p:nvSpPr>
          <p:cNvPr id="25" name="Energy 4 circle"/>
          <p:cNvSpPr/>
          <p:nvPr/>
        </p:nvSpPr>
        <p:spPr>
          <a:xfrm>
            <a:off x="4343400" y="4526280"/>
            <a:ext cx="457200" cy="457200"/>
          </a:xfrm>
          <a:prstGeom prst="ellipse">
            <a:avLst/>
          </a:prstGeom>
          <a:solidFill>
            <a:schemeClr val="accent1"/>
          </a:solidFill>
          <a:ln/>
        </p:spPr>
      </p:sp>
      <p:pic>
        <p:nvPicPr>
          <p:cNvPr id="26" name="Energy 4 icon" descr="Energy 4">    </p:cNvPr>
          <p:cNvPicPr>
            <a:picLocks noChangeAspect="1"/>
          </p:cNvPicPr>
          <p:nvPr/>
        </p:nvPicPr>
        <p:blipFill>
          <a:blip r:embed="rId4"/>
          <a:stretch>
            <a:fillRect/>
          </a:stretch>
        </p:blipFill>
        <p:spPr>
          <a:xfrm>
            <a:off x="4457700" y="4640580"/>
            <a:ext cx="228600" cy="228600"/>
          </a:xfrm>
          <a:prstGeom prst="rect">
            <a:avLst/>
          </a:prstGeom>
        </p:spPr>
      </p:pic>
      <p:sp>
        <p:nvSpPr>
          <p:cNvPr id="27" name="Energy title 4"/>
          <p:cNvSpPr txBox="1"/>
          <p:nvPr/>
        </p:nvSpPr>
        <p:spPr>
          <a:xfrm>
            <a:off x="4937760" y="4526280"/>
            <a:ext cx="2468880" cy="457200"/>
          </a:xfrm>
          <a:prstGeom prst="rect">
            <a:avLst/>
          </a:prstGeom>
          <a:noFill/>
          <a:ln/>
        </p:spPr>
        <p:txBody>
          <a:bodyPr wrap="square" lIns="0" tIns="0" rIns="0" bIns="0" rtlCol="0" anchor="ctr"/>
          <a:lstStyle/>
          <a:p>
            <a:pPr algn="l" indent="0" marL="0">
              <a:buNone/>
            </a:pPr>
            <a:r>
              <a:rPr lang="en-US" sz="1600" b="1" dirty="0">
                <a:solidFill>
                  <a:schemeClr val="tx2"/>
                </a:solidFill>
              </a:rPr>
              <a:t>AI-based scheduling</a:t>
            </a:r>
            <a:endParaRPr lang="en-US" sz="1600" dirty="0"/>
          </a:p>
        </p:txBody>
      </p:sp>
      <p:sp>
        <p:nvSpPr>
          <p:cNvPr id="28" name="Energy text 4"/>
          <p:cNvSpPr txBox="1"/>
          <p:nvPr/>
        </p:nvSpPr>
        <p:spPr>
          <a:xfrm>
            <a:off x="4343400" y="5120640"/>
            <a:ext cx="3063240" cy="868680"/>
          </a:xfrm>
          <a:prstGeom prst="rect">
            <a:avLst/>
          </a:prstGeom>
          <a:noFill/>
          <a:ln/>
        </p:spPr>
        <p:txBody>
          <a:bodyPr wrap="square" lIns="0" tIns="0" rIns="0" bIns="0" rtlCol="0" anchor="t"/>
          <a:lstStyle/>
          <a:p>
            <a:pPr algn="l" indent="0" marL="0">
              <a:buNone/>
            </a:pPr>
            <a:r>
              <a:rPr lang="en-US" sz="1400" dirty="0">
                <a:solidFill>
                  <a:schemeClr val="tx1"/>
                </a:solidFill>
              </a:rPr>
              <a:t>Moves flexible loads to low-tariff or renewable-rich hours</a:t>
            </a:r>
            <a:endParaRPr lang="en-US" sz="1400" dirty="0"/>
          </a:p>
        </p:txBody>
      </p:sp>
      <p:sp>
        <p:nvSpPr>
          <p:cNvPr id="29" name="Google case card"/>
          <p:cNvSpPr/>
          <p:nvPr/>
        </p:nvSpPr>
        <p:spPr>
          <a:xfrm>
            <a:off x="7863840" y="1371600"/>
            <a:ext cx="3776472" cy="4754880"/>
          </a:xfrm>
          <a:prstGeom prst="roundRect">
            <a:avLst>
              <a:gd name="adj" fmla="val 2906"/>
            </a:avLst>
          </a:prstGeom>
          <a:solidFill>
            <a:schemeClr val="tx2"/>
          </a:solidFill>
          <a:ln/>
        </p:spPr>
      </p:sp>
      <p:sp>
        <p:nvSpPr>
          <p:cNvPr id="30" name="Google label"/>
          <p:cNvSpPr txBox="1"/>
          <p:nvPr/>
        </p:nvSpPr>
        <p:spPr>
          <a:xfrm>
            <a:off x="8138160" y="1645920"/>
            <a:ext cx="32004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GOOGLE CASE STUDY</a:t>
            </a:r>
            <a:endParaRPr lang="en-US" sz="1200" dirty="0"/>
          </a:p>
        </p:txBody>
      </p:sp>
      <p:sp>
        <p:nvSpPr>
          <p:cNvPr id="31" name="Google stat"/>
          <p:cNvSpPr txBox="1"/>
          <p:nvPr/>
        </p:nvSpPr>
        <p:spPr>
          <a:xfrm>
            <a:off x="8138160" y="2011680"/>
            <a:ext cx="3291840" cy="822960"/>
          </a:xfrm>
          <a:prstGeom prst="rect">
            <a:avLst/>
          </a:prstGeom>
          <a:noFill/>
          <a:ln/>
        </p:spPr>
        <p:txBody>
          <a:bodyPr wrap="square" lIns="0" tIns="0" rIns="0" bIns="0" rtlCol="0" anchor="ctr"/>
          <a:lstStyle/>
          <a:p>
            <a:pPr algn="l" indent="0" marL="0">
              <a:buNone/>
            </a:pPr>
            <a:r>
              <a:rPr lang="en-US" sz="4800" b="1" dirty="0">
                <a:solidFill>
                  <a:schemeClr val="accent2"/>
                </a:solidFill>
              </a:rPr>
              <a:t>Up to 40%</a:t>
            </a:r>
            <a:endParaRPr lang="en-US" sz="4800" dirty="0"/>
          </a:p>
        </p:txBody>
      </p:sp>
      <p:sp>
        <p:nvSpPr>
          <p:cNvPr id="32" name="Google caption"/>
          <p:cNvSpPr txBox="1"/>
          <p:nvPr/>
        </p:nvSpPr>
        <p:spPr>
          <a:xfrm>
            <a:off x="8138160" y="2926080"/>
            <a:ext cx="3291840" cy="822960"/>
          </a:xfrm>
          <a:prstGeom prst="rect">
            <a:avLst/>
          </a:prstGeom>
          <a:noFill/>
          <a:ln/>
        </p:spPr>
        <p:txBody>
          <a:bodyPr wrap="square" lIns="0" tIns="0" rIns="0" bIns="0" rtlCol="0" anchor="t"/>
          <a:lstStyle/>
          <a:p>
            <a:pPr algn="l" indent="0" marL="0">
              <a:buNone/>
            </a:pPr>
            <a:r>
              <a:rPr lang="en-US" sz="1600" dirty="0">
                <a:solidFill>
                  <a:schemeClr val="bg1"/>
                </a:solidFill>
              </a:rPr>
              <a:t>reduction in energy used for data-centre cooling, as reported by Google (2016)</a:t>
            </a:r>
            <a:endParaRPr lang="en-US" sz="1600" dirty="0"/>
          </a:p>
        </p:txBody>
      </p:sp>
      <p:sp>
        <p:nvSpPr>
          <p:cNvPr id="33" name="Google takeaway"/>
          <p:cNvSpPr txBox="1"/>
          <p:nvPr/>
        </p:nvSpPr>
        <p:spPr>
          <a:xfrm>
            <a:off x="8138160" y="4023360"/>
            <a:ext cx="3291840" cy="1828800"/>
          </a:xfrm>
          <a:prstGeom prst="rect">
            <a:avLst/>
          </a:prstGeom>
          <a:noFill/>
          <a:ln/>
        </p:spPr>
        <p:txBody>
          <a:bodyPr wrap="square" lIns="0" tIns="0" rIns="0" bIns="0" rtlCol="0" anchor="t"/>
          <a:lstStyle/>
          <a:p>
            <a:pPr algn="l" indent="0" marL="0">
              <a:buNone/>
            </a:pPr>
            <a:r>
              <a:rPr lang="en-US" sz="1400" dirty="0">
                <a:solidFill>
                  <a:schemeClr val="bg2"/>
                </a:solidFill>
              </a:rPr>
              <a:t>DeepMind's ML system forecast load and tuned cooling in Google data centres. The same forecast-then-control idea applies to HVAC, compressors and process heat in industrial plants.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Search Algorithms for Sustainable Planning</a:t>
            </a:r>
            <a:endParaRPr lang="en-US" sz="3200" dirty="0"/>
          </a:p>
        </p:txBody>
      </p:sp>
      <p:sp>
        <p:nvSpPr>
          <p:cNvPr id="3" name="Algo label box 1"/>
          <p:cNvSpPr/>
          <p:nvPr/>
        </p:nvSpPr>
        <p:spPr>
          <a:xfrm>
            <a:off x="548640" y="1463040"/>
            <a:ext cx="1737360" cy="804672"/>
          </a:xfrm>
          <a:prstGeom prst="rect">
            <a:avLst/>
          </a:prstGeom>
          <a:solidFill>
            <a:schemeClr val="accent1"/>
          </a:solidFill>
          <a:ln/>
        </p:spPr>
      </p:sp>
      <p:sp>
        <p:nvSpPr>
          <p:cNvPr id="4" name="Algo name 1"/>
          <p:cNvSpPr txBox="1"/>
          <p:nvPr/>
        </p:nvSpPr>
        <p:spPr>
          <a:xfrm>
            <a:off x="640080" y="1463040"/>
            <a:ext cx="1554480" cy="804672"/>
          </a:xfrm>
          <a:prstGeom prst="rect">
            <a:avLst/>
          </a:prstGeom>
          <a:noFill/>
          <a:ln/>
        </p:spPr>
        <p:txBody>
          <a:bodyPr wrap="square" lIns="0" tIns="0" rIns="0" bIns="0" rtlCol="0" anchor="ctr"/>
          <a:lstStyle/>
          <a:p>
            <a:pPr algn="ctr" indent="0" marL="0">
              <a:buNone/>
            </a:pPr>
            <a:r>
              <a:rPr lang="en-US" sz="1600" b="1" dirty="0">
                <a:solidFill>
                  <a:schemeClr val="bg1"/>
                </a:solidFill>
              </a:rPr>
              <a:t>BFS</a:t>
            </a:r>
            <a:endParaRPr lang="en-US" sz="1600" dirty="0"/>
          </a:p>
        </p:txBody>
      </p:sp>
      <p:sp>
        <p:nvSpPr>
          <p:cNvPr id="5" name="Algo desc box 1"/>
          <p:cNvSpPr/>
          <p:nvPr/>
        </p:nvSpPr>
        <p:spPr>
          <a:xfrm>
            <a:off x="2286000" y="1463040"/>
            <a:ext cx="5029200" cy="804672"/>
          </a:xfrm>
          <a:prstGeom prst="rect">
            <a:avLst/>
          </a:prstGeom>
          <a:solidFill>
            <a:schemeClr val="bg2"/>
          </a:solidFill>
          <a:ln/>
        </p:spPr>
      </p:sp>
      <p:sp>
        <p:nvSpPr>
          <p:cNvPr id="6" name="Algo desc 1"/>
          <p:cNvSpPr txBox="1"/>
          <p:nvPr/>
        </p:nvSpPr>
        <p:spPr>
          <a:xfrm>
            <a:off x="2468880" y="1463040"/>
            <a:ext cx="4754880" cy="804672"/>
          </a:xfrm>
          <a:prstGeom prst="rect">
            <a:avLst/>
          </a:prstGeom>
          <a:noFill/>
          <a:ln/>
        </p:spPr>
        <p:txBody>
          <a:bodyPr wrap="square" lIns="0" tIns="0" rIns="0" bIns="0" rtlCol="0" anchor="ctr"/>
          <a:lstStyle/>
          <a:p>
            <a:pPr algn="l" indent="0" marL="0">
              <a:buNone/>
            </a:pPr>
            <a:r>
              <a:rPr lang="en-US" sz="1400" dirty="0">
                <a:solidFill>
                  <a:schemeClr val="tx1"/>
                </a:solidFill>
              </a:rPr>
              <a:t>Explores options level by level and finds the route with the fewest steps</a:t>
            </a:r>
            <a:endParaRPr lang="en-US" sz="1400" dirty="0"/>
          </a:p>
        </p:txBody>
      </p:sp>
      <p:sp>
        <p:nvSpPr>
          <p:cNvPr id="7" name="Algo label box 2"/>
          <p:cNvSpPr/>
          <p:nvPr/>
        </p:nvSpPr>
        <p:spPr>
          <a:xfrm>
            <a:off x="548640" y="2377440"/>
            <a:ext cx="1737360" cy="804672"/>
          </a:xfrm>
          <a:prstGeom prst="rect">
            <a:avLst/>
          </a:prstGeom>
          <a:solidFill>
            <a:schemeClr val="accent1"/>
          </a:solidFill>
          <a:ln/>
        </p:spPr>
      </p:sp>
      <p:sp>
        <p:nvSpPr>
          <p:cNvPr id="8" name="Algo name 2"/>
          <p:cNvSpPr txBox="1"/>
          <p:nvPr/>
        </p:nvSpPr>
        <p:spPr>
          <a:xfrm>
            <a:off x="640080" y="2377440"/>
            <a:ext cx="1554480" cy="804672"/>
          </a:xfrm>
          <a:prstGeom prst="rect">
            <a:avLst/>
          </a:prstGeom>
          <a:noFill/>
          <a:ln/>
        </p:spPr>
        <p:txBody>
          <a:bodyPr wrap="square" lIns="0" tIns="0" rIns="0" bIns="0" rtlCol="0" anchor="ctr"/>
          <a:lstStyle/>
          <a:p>
            <a:pPr algn="ctr" indent="0" marL="0">
              <a:buNone/>
            </a:pPr>
            <a:r>
              <a:rPr lang="en-US" sz="1600" b="1" dirty="0">
                <a:solidFill>
                  <a:schemeClr val="bg1"/>
                </a:solidFill>
              </a:rPr>
              <a:t>DFS</a:t>
            </a:r>
            <a:endParaRPr lang="en-US" sz="1600" dirty="0"/>
          </a:p>
        </p:txBody>
      </p:sp>
      <p:sp>
        <p:nvSpPr>
          <p:cNvPr id="9" name="Algo desc box 2"/>
          <p:cNvSpPr/>
          <p:nvPr/>
        </p:nvSpPr>
        <p:spPr>
          <a:xfrm>
            <a:off x="2286000" y="2377440"/>
            <a:ext cx="5029200" cy="804672"/>
          </a:xfrm>
          <a:prstGeom prst="rect">
            <a:avLst/>
          </a:prstGeom>
          <a:solidFill>
            <a:schemeClr val="bg2"/>
          </a:solidFill>
          <a:ln/>
        </p:spPr>
      </p:sp>
      <p:sp>
        <p:nvSpPr>
          <p:cNvPr id="10" name="Algo desc 2"/>
          <p:cNvSpPr txBox="1"/>
          <p:nvPr/>
        </p:nvSpPr>
        <p:spPr>
          <a:xfrm>
            <a:off x="2468880" y="2377440"/>
            <a:ext cx="4754880" cy="804672"/>
          </a:xfrm>
          <a:prstGeom prst="rect">
            <a:avLst/>
          </a:prstGeom>
          <a:noFill/>
          <a:ln/>
        </p:spPr>
        <p:txBody>
          <a:bodyPr wrap="square" lIns="0" tIns="0" rIns="0" bIns="0" rtlCol="0" anchor="ctr"/>
          <a:lstStyle/>
          <a:p>
            <a:pPr algn="l" indent="0" marL="0">
              <a:buNone/>
            </a:pPr>
            <a:r>
              <a:rPr lang="en-US" sz="1400" dirty="0">
                <a:solidFill>
                  <a:schemeClr val="tx1"/>
                </a:solidFill>
              </a:rPr>
              <a:t>Goes deep along one path first; useful for tracing a fault or emission source</a:t>
            </a:r>
            <a:endParaRPr lang="en-US" sz="1400" dirty="0"/>
          </a:p>
        </p:txBody>
      </p:sp>
      <p:sp>
        <p:nvSpPr>
          <p:cNvPr id="11" name="Algo label box 3"/>
          <p:cNvSpPr/>
          <p:nvPr/>
        </p:nvSpPr>
        <p:spPr>
          <a:xfrm>
            <a:off x="548640" y="3291840"/>
            <a:ext cx="1737360" cy="804672"/>
          </a:xfrm>
          <a:prstGeom prst="rect">
            <a:avLst/>
          </a:prstGeom>
          <a:solidFill>
            <a:schemeClr val="accent1"/>
          </a:solidFill>
          <a:ln/>
        </p:spPr>
      </p:sp>
      <p:sp>
        <p:nvSpPr>
          <p:cNvPr id="12" name="Algo name 3"/>
          <p:cNvSpPr txBox="1"/>
          <p:nvPr/>
        </p:nvSpPr>
        <p:spPr>
          <a:xfrm>
            <a:off x="640080" y="3291840"/>
            <a:ext cx="1554480" cy="804672"/>
          </a:xfrm>
          <a:prstGeom prst="rect">
            <a:avLst/>
          </a:prstGeom>
          <a:noFill/>
          <a:ln/>
        </p:spPr>
        <p:txBody>
          <a:bodyPr wrap="square" lIns="0" tIns="0" rIns="0" bIns="0" rtlCol="0" anchor="ctr"/>
          <a:lstStyle/>
          <a:p>
            <a:pPr algn="ctr" indent="0" marL="0">
              <a:buNone/>
            </a:pPr>
            <a:r>
              <a:rPr lang="en-US" sz="1600" b="1" dirty="0">
                <a:solidFill>
                  <a:schemeClr val="bg1"/>
                </a:solidFill>
              </a:rPr>
              <a:t>Greedy Search</a:t>
            </a:r>
            <a:endParaRPr lang="en-US" sz="1600" dirty="0"/>
          </a:p>
        </p:txBody>
      </p:sp>
      <p:sp>
        <p:nvSpPr>
          <p:cNvPr id="13" name="Algo desc box 3"/>
          <p:cNvSpPr/>
          <p:nvPr/>
        </p:nvSpPr>
        <p:spPr>
          <a:xfrm>
            <a:off x="2286000" y="3291840"/>
            <a:ext cx="5029200" cy="804672"/>
          </a:xfrm>
          <a:prstGeom prst="rect">
            <a:avLst/>
          </a:prstGeom>
          <a:solidFill>
            <a:schemeClr val="bg2"/>
          </a:solidFill>
          <a:ln/>
        </p:spPr>
      </p:sp>
      <p:sp>
        <p:nvSpPr>
          <p:cNvPr id="14" name="Algo desc 3"/>
          <p:cNvSpPr txBox="1"/>
          <p:nvPr/>
        </p:nvSpPr>
        <p:spPr>
          <a:xfrm>
            <a:off x="2468880" y="3291840"/>
            <a:ext cx="4754880" cy="804672"/>
          </a:xfrm>
          <a:prstGeom prst="rect">
            <a:avLst/>
          </a:prstGeom>
          <a:noFill/>
          <a:ln/>
        </p:spPr>
        <p:txBody>
          <a:bodyPr wrap="square" lIns="0" tIns="0" rIns="0" bIns="0" rtlCol="0" anchor="ctr"/>
          <a:lstStyle/>
          <a:p>
            <a:pPr algn="l" indent="0" marL="0">
              <a:buNone/>
            </a:pPr>
            <a:r>
              <a:rPr lang="en-US" sz="1400" dirty="0">
                <a:solidFill>
                  <a:schemeClr val="tx1"/>
                </a:solidFill>
              </a:rPr>
              <a:t>Takes the lowest-cost move right now; fast, but can miss the best overall plan</a:t>
            </a:r>
            <a:endParaRPr lang="en-US" sz="1400" dirty="0"/>
          </a:p>
        </p:txBody>
      </p:sp>
      <p:sp>
        <p:nvSpPr>
          <p:cNvPr id="15" name="Algo label box 4"/>
          <p:cNvSpPr/>
          <p:nvPr/>
        </p:nvSpPr>
        <p:spPr>
          <a:xfrm>
            <a:off x="548640" y="4206240"/>
            <a:ext cx="1737360" cy="804672"/>
          </a:xfrm>
          <a:prstGeom prst="rect">
            <a:avLst/>
          </a:prstGeom>
          <a:solidFill>
            <a:schemeClr val="accent2"/>
          </a:solidFill>
          <a:ln/>
        </p:spPr>
      </p:sp>
      <p:sp>
        <p:nvSpPr>
          <p:cNvPr id="16" name="Algo name 4"/>
          <p:cNvSpPr txBox="1"/>
          <p:nvPr/>
        </p:nvSpPr>
        <p:spPr>
          <a:xfrm>
            <a:off x="640080" y="4206240"/>
            <a:ext cx="1554480" cy="804672"/>
          </a:xfrm>
          <a:prstGeom prst="rect">
            <a:avLst/>
          </a:prstGeom>
          <a:noFill/>
          <a:ln/>
        </p:spPr>
        <p:txBody>
          <a:bodyPr wrap="square" lIns="0" tIns="0" rIns="0" bIns="0" rtlCol="0" anchor="ctr"/>
          <a:lstStyle/>
          <a:p>
            <a:pPr algn="ctr" indent="0" marL="0">
              <a:buNone/>
            </a:pPr>
            <a:r>
              <a:rPr lang="en-US" sz="1600" b="1" dirty="0">
                <a:solidFill>
                  <a:schemeClr val="tx1"/>
                </a:solidFill>
              </a:rPr>
              <a:t>A* Search</a:t>
            </a:r>
            <a:endParaRPr lang="en-US" sz="1600" dirty="0"/>
          </a:p>
        </p:txBody>
      </p:sp>
      <p:sp>
        <p:nvSpPr>
          <p:cNvPr id="17" name="Algo desc box 4"/>
          <p:cNvSpPr/>
          <p:nvPr/>
        </p:nvSpPr>
        <p:spPr>
          <a:xfrm>
            <a:off x="2286000" y="4206240"/>
            <a:ext cx="5029200" cy="804672"/>
          </a:xfrm>
          <a:prstGeom prst="rect">
            <a:avLst/>
          </a:prstGeom>
          <a:solidFill>
            <a:schemeClr val="bg2"/>
          </a:solidFill>
          <a:ln/>
        </p:spPr>
      </p:sp>
      <p:sp>
        <p:nvSpPr>
          <p:cNvPr id="18" name="Algo desc 4"/>
          <p:cNvSpPr txBox="1"/>
          <p:nvPr/>
        </p:nvSpPr>
        <p:spPr>
          <a:xfrm>
            <a:off x="2468880" y="4206240"/>
            <a:ext cx="4754880" cy="804672"/>
          </a:xfrm>
          <a:prstGeom prst="rect">
            <a:avLst/>
          </a:prstGeom>
          <a:noFill/>
          <a:ln/>
        </p:spPr>
        <p:txBody>
          <a:bodyPr wrap="square" lIns="0" tIns="0" rIns="0" bIns="0" rtlCol="0" anchor="ctr"/>
          <a:lstStyle/>
          <a:p>
            <a:pPr algn="l" indent="0" marL="0">
              <a:buNone/>
            </a:pPr>
            <a:r>
              <a:rPr lang="en-US" sz="1400" dirty="0">
                <a:solidFill>
                  <a:schemeClr val="tx1"/>
                </a:solidFill>
              </a:rPr>
              <a:t>Combines cost so far with an estimate to the goal; best for collection routes and schedules</a:t>
            </a:r>
            <a:endParaRPr lang="en-US" sz="1400" dirty="0"/>
          </a:p>
        </p:txBody>
      </p:sp>
      <p:sp>
        <p:nvSpPr>
          <p:cNvPr id="19" name="Algo label box 5"/>
          <p:cNvSpPr/>
          <p:nvPr/>
        </p:nvSpPr>
        <p:spPr>
          <a:xfrm>
            <a:off x="548640" y="5120640"/>
            <a:ext cx="1737360" cy="804672"/>
          </a:xfrm>
          <a:prstGeom prst="rect">
            <a:avLst/>
          </a:prstGeom>
          <a:solidFill>
            <a:schemeClr val="accent1"/>
          </a:solidFill>
          <a:ln/>
        </p:spPr>
      </p:sp>
      <p:sp>
        <p:nvSpPr>
          <p:cNvPr id="20" name="Algo name 5"/>
          <p:cNvSpPr txBox="1"/>
          <p:nvPr/>
        </p:nvSpPr>
        <p:spPr>
          <a:xfrm>
            <a:off x="640080" y="5120640"/>
            <a:ext cx="1554480" cy="804672"/>
          </a:xfrm>
          <a:prstGeom prst="rect">
            <a:avLst/>
          </a:prstGeom>
          <a:noFill/>
          <a:ln/>
        </p:spPr>
        <p:txBody>
          <a:bodyPr wrap="square" lIns="0" tIns="0" rIns="0" bIns="0" rtlCol="0" anchor="ctr"/>
          <a:lstStyle/>
          <a:p>
            <a:pPr algn="ctr" indent="0" marL="0">
              <a:buNone/>
            </a:pPr>
            <a:r>
              <a:rPr lang="en-US" sz="1600" b="1" dirty="0">
                <a:solidFill>
                  <a:schemeClr val="bg1"/>
                </a:solidFill>
              </a:rPr>
              <a:t>Adversarial Search</a:t>
            </a:r>
            <a:endParaRPr lang="en-US" sz="1600" dirty="0"/>
          </a:p>
        </p:txBody>
      </p:sp>
      <p:sp>
        <p:nvSpPr>
          <p:cNvPr id="21" name="Algo desc box 5"/>
          <p:cNvSpPr/>
          <p:nvPr/>
        </p:nvSpPr>
        <p:spPr>
          <a:xfrm>
            <a:off x="2286000" y="5120640"/>
            <a:ext cx="5029200" cy="804672"/>
          </a:xfrm>
          <a:prstGeom prst="rect">
            <a:avLst/>
          </a:prstGeom>
          <a:solidFill>
            <a:schemeClr val="bg2"/>
          </a:solidFill>
          <a:ln/>
        </p:spPr>
      </p:sp>
      <p:sp>
        <p:nvSpPr>
          <p:cNvPr id="22" name="Algo desc 5"/>
          <p:cNvSpPr txBox="1"/>
          <p:nvPr/>
        </p:nvSpPr>
        <p:spPr>
          <a:xfrm>
            <a:off x="2468880" y="5120640"/>
            <a:ext cx="4754880" cy="804672"/>
          </a:xfrm>
          <a:prstGeom prst="rect">
            <a:avLst/>
          </a:prstGeom>
          <a:noFill/>
          <a:ln/>
        </p:spPr>
        <p:txBody>
          <a:bodyPr wrap="square" lIns="0" tIns="0" rIns="0" bIns="0" rtlCol="0" anchor="ctr"/>
          <a:lstStyle/>
          <a:p>
            <a:pPr algn="l" indent="0" marL="0">
              <a:buNone/>
            </a:pPr>
            <a:r>
              <a:rPr lang="en-US" sz="1400" dirty="0">
                <a:solidFill>
                  <a:schemeClr val="tx1"/>
                </a:solidFill>
              </a:rPr>
              <a:t>Plans against a changing opponent, such as tariff swings or competing demand</a:t>
            </a:r>
            <a:endParaRPr lang="en-US" sz="1400" dirty="0"/>
          </a:p>
        </p:txBody>
      </p:sp>
      <p:sp>
        <p:nvSpPr>
          <p:cNvPr id="23" name="Applications card"/>
          <p:cNvSpPr/>
          <p:nvPr/>
        </p:nvSpPr>
        <p:spPr>
          <a:xfrm>
            <a:off x="7589520" y="1463040"/>
            <a:ext cx="4050792" cy="2103120"/>
          </a:xfrm>
          <a:prstGeom prst="roundRect">
            <a:avLst>
              <a:gd name="adj" fmla="val 5217"/>
            </a:avLst>
          </a:prstGeom>
          <a:solidFill>
            <a:schemeClr val="bg2"/>
          </a:solidFill>
          <a:ln/>
        </p:spPr>
      </p:sp>
      <p:sp>
        <p:nvSpPr>
          <p:cNvPr id="24" name="Applications circle"/>
          <p:cNvSpPr/>
          <p:nvPr/>
        </p:nvSpPr>
        <p:spPr>
          <a:xfrm>
            <a:off x="7772400" y="1645920"/>
            <a:ext cx="457200" cy="457200"/>
          </a:xfrm>
          <a:prstGeom prst="ellipse">
            <a:avLst/>
          </a:prstGeom>
          <a:solidFill>
            <a:schemeClr val="accent1"/>
          </a:solidFill>
          <a:ln/>
        </p:spPr>
      </p:sp>
      <p:pic>
        <p:nvPicPr>
          <p:cNvPr id="25" name="Applications icon" descr="Applications">    </p:cNvPr>
          <p:cNvPicPr>
            <a:picLocks noChangeAspect="1"/>
          </p:cNvPicPr>
          <p:nvPr/>
        </p:nvPicPr>
        <p:blipFill>
          <a:blip r:embed="rId1"/>
          <a:stretch>
            <a:fillRect/>
          </a:stretch>
        </p:blipFill>
        <p:spPr>
          <a:xfrm>
            <a:off x="7886700" y="1760220"/>
            <a:ext cx="228600" cy="228600"/>
          </a:xfrm>
          <a:prstGeom prst="rect">
            <a:avLst/>
          </a:prstGeom>
        </p:spPr>
      </p:pic>
      <p:sp>
        <p:nvSpPr>
          <p:cNvPr id="26" name="Applications title"/>
          <p:cNvSpPr txBox="1"/>
          <p:nvPr/>
        </p:nvSpPr>
        <p:spPr>
          <a:xfrm>
            <a:off x="8366760" y="1645920"/>
            <a:ext cx="3108960" cy="457200"/>
          </a:xfrm>
          <a:prstGeom prst="rect">
            <a:avLst/>
          </a:prstGeom>
          <a:noFill/>
          <a:ln/>
        </p:spPr>
        <p:txBody>
          <a:bodyPr wrap="square" lIns="0" tIns="0" rIns="0" bIns="0" rtlCol="0" anchor="ctr"/>
          <a:lstStyle/>
          <a:p>
            <a:pPr algn="l" indent="0" marL="0">
              <a:buNone/>
            </a:pPr>
            <a:r>
              <a:rPr lang="en-US" sz="1600" b="1" dirty="0">
                <a:solidFill>
                  <a:schemeClr val="tx2"/>
                </a:solidFill>
              </a:rPr>
              <a:t>Industrial applications</a:t>
            </a:r>
            <a:endParaRPr lang="en-US" sz="1600" dirty="0"/>
          </a:p>
        </p:txBody>
      </p:sp>
      <p:sp>
        <p:nvSpPr>
          <p:cNvPr id="27" name="Applications list"/>
          <p:cNvSpPr txBox="1"/>
          <p:nvPr/>
        </p:nvSpPr>
        <p:spPr>
          <a:xfrm>
            <a:off x="7772400" y="2286000"/>
            <a:ext cx="3657600" cy="118872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tx1"/>
                </a:solidFill>
              </a:rPr>
              <a:t>Waste-collection routing</a:t>
            </a:r>
            <a:endParaRPr lang="en-US" sz="1400" dirty="0"/>
          </a:p>
          <a:p>
            <a:pPr algn="l" marL="342900" indent="-342900">
              <a:spcAft>
                <a:spcPts val="400"/>
              </a:spcAft>
              <a:buSzPct val="100000"/>
              <a:buChar char="•"/>
            </a:pPr>
            <a:r>
              <a:rPr lang="en-US" sz="1400" dirty="0">
                <a:solidFill>
                  <a:schemeClr val="tx1"/>
                </a:solidFill>
              </a:rPr>
              <a:t>Energy scheduling across shifts</a:t>
            </a:r>
            <a:endParaRPr lang="en-US" sz="1400" dirty="0"/>
          </a:p>
          <a:p>
            <a:pPr algn="l" marL="342900" indent="-342900">
              <a:spcAft>
                <a:spcPts val="400"/>
              </a:spcAft>
              <a:buSzPct val="100000"/>
              <a:buChar char="•"/>
            </a:pPr>
            <a:r>
              <a:rPr lang="en-US" sz="1400" dirty="0">
                <a:solidFill>
                  <a:schemeClr val="tx1"/>
                </a:solidFill>
              </a:rPr>
              <a:t>Maintenance and logistics planning</a:t>
            </a:r>
            <a:endParaRPr lang="en-US" sz="1400" dirty="0"/>
          </a:p>
        </p:txBody>
      </p:sp>
      <p:sp>
        <p:nvSpPr>
          <p:cNvPr id="28" name="Limitations card"/>
          <p:cNvSpPr/>
          <p:nvPr/>
        </p:nvSpPr>
        <p:spPr>
          <a:xfrm>
            <a:off x="7589520" y="3749040"/>
            <a:ext cx="4050792" cy="2194560"/>
          </a:xfrm>
          <a:prstGeom prst="roundRect">
            <a:avLst>
              <a:gd name="adj" fmla="val 5000"/>
            </a:avLst>
          </a:prstGeom>
          <a:solidFill>
            <a:schemeClr val="tx2"/>
          </a:solidFill>
          <a:ln/>
        </p:spPr>
      </p:sp>
      <p:sp>
        <p:nvSpPr>
          <p:cNvPr id="29" name="Limitations title"/>
          <p:cNvSpPr txBox="1"/>
          <p:nvPr/>
        </p:nvSpPr>
        <p:spPr>
          <a:xfrm>
            <a:off x="7818120" y="3931920"/>
            <a:ext cx="3566160" cy="365760"/>
          </a:xfrm>
          <a:prstGeom prst="rect">
            <a:avLst/>
          </a:prstGeom>
          <a:noFill/>
          <a:ln/>
        </p:spPr>
        <p:txBody>
          <a:bodyPr wrap="square" lIns="0" tIns="0" rIns="0" bIns="0" rtlCol="0" anchor="t"/>
          <a:lstStyle/>
          <a:p>
            <a:pPr algn="l" indent="0" marL="0">
              <a:buNone/>
            </a:pPr>
            <a:r>
              <a:rPr lang="en-US" sz="1600" b="1" dirty="0">
                <a:solidFill>
                  <a:schemeClr val="accent2"/>
                </a:solidFill>
              </a:rPr>
              <a:t>Limitations</a:t>
            </a:r>
            <a:endParaRPr lang="en-US" sz="1600" dirty="0"/>
          </a:p>
        </p:txBody>
      </p:sp>
      <p:sp>
        <p:nvSpPr>
          <p:cNvPr id="30" name="Limitations list"/>
          <p:cNvSpPr txBox="1"/>
          <p:nvPr/>
        </p:nvSpPr>
        <p:spPr>
          <a:xfrm>
            <a:off x="7818120" y="4389120"/>
            <a:ext cx="3566160" cy="141732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bg1"/>
                </a:solidFill>
              </a:rPr>
              <a:t>BFS and DFS slow down as the problem grows</a:t>
            </a:r>
            <a:endParaRPr lang="en-US" sz="1400" dirty="0"/>
          </a:p>
          <a:p>
            <a:pPr algn="l" marL="342900" indent="-342900">
              <a:spcAft>
                <a:spcPts val="400"/>
              </a:spcAft>
              <a:buSzPct val="100000"/>
              <a:buChar char="•"/>
            </a:pPr>
            <a:r>
              <a:rPr lang="en-US" sz="1400" dirty="0">
                <a:solidFill>
                  <a:schemeClr val="bg1"/>
                </a:solidFill>
              </a:rPr>
              <a:t>Greedy can miss the best overall plan</a:t>
            </a:r>
            <a:endParaRPr lang="en-US" sz="1400" dirty="0"/>
          </a:p>
          <a:p>
            <a:pPr algn="l" marL="342900" indent="-342900">
              <a:spcAft>
                <a:spcPts val="400"/>
              </a:spcAft>
              <a:buSzPct val="100000"/>
              <a:buChar char="•"/>
            </a:pPr>
            <a:r>
              <a:rPr lang="en-US" sz="1400" dirty="0">
                <a:solidFill>
                  <a:schemeClr val="bg1"/>
                </a:solidFill>
              </a:rPr>
              <a:t>A* needs a good heuristic and clean data</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AI for Waste Reduction &amp; Circular Economy</a:t>
            </a:r>
            <a:endParaRPr lang="en-US" sz="3200" dirty="0"/>
          </a:p>
        </p:txBody>
      </p:sp>
      <p:sp>
        <p:nvSpPr>
          <p:cNvPr id="3" name="Waste card 1"/>
          <p:cNvSpPr/>
          <p:nvPr/>
        </p:nvSpPr>
        <p:spPr>
          <a:xfrm>
            <a:off x="548640" y="1463040"/>
            <a:ext cx="2560320" cy="2743200"/>
          </a:xfrm>
          <a:prstGeom prst="roundRect">
            <a:avLst>
              <a:gd name="adj" fmla="val 4286"/>
            </a:avLst>
          </a:prstGeom>
          <a:solidFill>
            <a:schemeClr val="bg2"/>
          </a:solidFill>
          <a:ln/>
        </p:spPr>
      </p:sp>
      <p:sp>
        <p:nvSpPr>
          <p:cNvPr id="4" name="Waste 1 circle"/>
          <p:cNvSpPr/>
          <p:nvPr/>
        </p:nvSpPr>
        <p:spPr>
          <a:xfrm>
            <a:off x="731520" y="1645920"/>
            <a:ext cx="594360" cy="594360"/>
          </a:xfrm>
          <a:prstGeom prst="ellipse">
            <a:avLst/>
          </a:prstGeom>
          <a:solidFill>
            <a:schemeClr val="accent1"/>
          </a:solidFill>
          <a:ln/>
        </p:spPr>
      </p:sp>
      <p:pic>
        <p:nvPicPr>
          <p:cNvPr id="5" name="Waste 1 icon" descr="Waste 1">    </p:cNvPr>
          <p:cNvPicPr>
            <a:picLocks noChangeAspect="1"/>
          </p:cNvPicPr>
          <p:nvPr/>
        </p:nvPicPr>
        <p:blipFill>
          <a:blip r:embed="rId1"/>
          <a:stretch>
            <a:fillRect/>
          </a:stretch>
        </p:blipFill>
        <p:spPr>
          <a:xfrm>
            <a:off x="880110" y="1794510"/>
            <a:ext cx="297180" cy="297180"/>
          </a:xfrm>
          <a:prstGeom prst="rect">
            <a:avLst/>
          </a:prstGeom>
        </p:spPr>
      </p:pic>
      <p:sp>
        <p:nvSpPr>
          <p:cNvPr id="6" name="Waste title 1"/>
          <p:cNvSpPr txBox="1"/>
          <p:nvPr/>
        </p:nvSpPr>
        <p:spPr>
          <a:xfrm>
            <a:off x="731520" y="2377440"/>
            <a:ext cx="2194560" cy="640080"/>
          </a:xfrm>
          <a:prstGeom prst="rect">
            <a:avLst/>
          </a:prstGeom>
          <a:noFill/>
          <a:ln/>
        </p:spPr>
        <p:txBody>
          <a:bodyPr wrap="square" lIns="0" tIns="0" rIns="0" bIns="0" rtlCol="0" anchor="t"/>
          <a:lstStyle/>
          <a:p>
            <a:pPr algn="l" indent="0" marL="0">
              <a:buNone/>
            </a:pPr>
            <a:r>
              <a:rPr lang="en-US" sz="1600" b="1" dirty="0">
                <a:solidFill>
                  <a:schemeClr val="tx2"/>
                </a:solidFill>
              </a:rPr>
              <a:t>CNN waste classification</a:t>
            </a:r>
            <a:endParaRPr lang="en-US" sz="1600" dirty="0"/>
          </a:p>
        </p:txBody>
      </p:sp>
      <p:sp>
        <p:nvSpPr>
          <p:cNvPr id="7" name="Waste text 1"/>
          <p:cNvSpPr txBox="1"/>
          <p:nvPr/>
        </p:nvSpPr>
        <p:spPr>
          <a:xfrm>
            <a:off x="731520" y="3063240"/>
            <a:ext cx="2194560" cy="1051560"/>
          </a:xfrm>
          <a:prstGeom prst="rect">
            <a:avLst/>
          </a:prstGeom>
          <a:noFill/>
          <a:ln/>
        </p:spPr>
        <p:txBody>
          <a:bodyPr wrap="square" lIns="0" tIns="0" rIns="0" bIns="0" rtlCol="0" anchor="t"/>
          <a:lstStyle/>
          <a:p>
            <a:pPr algn="l" indent="0" marL="0">
              <a:buNone/>
            </a:pPr>
            <a:r>
              <a:rPr lang="en-US" sz="1400" dirty="0">
                <a:solidFill>
                  <a:schemeClr val="tx1"/>
                </a:solidFill>
              </a:rPr>
              <a:t>Camera feeds are sorted into paper, plastic, metal, organic and e-waste</a:t>
            </a:r>
            <a:endParaRPr lang="en-US" sz="1400" dirty="0"/>
          </a:p>
        </p:txBody>
      </p:sp>
      <p:sp>
        <p:nvSpPr>
          <p:cNvPr id="8" name="arrow"/>
          <p:cNvSpPr/>
          <p:nvPr/>
        </p:nvSpPr>
        <p:spPr>
          <a:xfrm>
            <a:off x="3113532" y="1828800"/>
            <a:ext cx="274320" cy="274320"/>
          </a:xfrm>
          <a:prstGeom prst="rightArrow">
            <a:avLst/>
          </a:prstGeom>
          <a:solidFill>
            <a:schemeClr val="accent2"/>
          </a:solidFill>
          <a:ln/>
        </p:spPr>
      </p:sp>
      <p:sp>
        <p:nvSpPr>
          <p:cNvPr id="9" name="Waste card 2"/>
          <p:cNvSpPr/>
          <p:nvPr/>
        </p:nvSpPr>
        <p:spPr>
          <a:xfrm>
            <a:off x="3392424" y="1463040"/>
            <a:ext cx="2560320" cy="2743200"/>
          </a:xfrm>
          <a:prstGeom prst="roundRect">
            <a:avLst>
              <a:gd name="adj" fmla="val 4286"/>
            </a:avLst>
          </a:prstGeom>
          <a:solidFill>
            <a:schemeClr val="bg2"/>
          </a:solidFill>
          <a:ln/>
        </p:spPr>
      </p:sp>
      <p:sp>
        <p:nvSpPr>
          <p:cNvPr id="10" name="Waste 2 circle"/>
          <p:cNvSpPr/>
          <p:nvPr/>
        </p:nvSpPr>
        <p:spPr>
          <a:xfrm>
            <a:off x="3575304" y="1645920"/>
            <a:ext cx="594360" cy="594360"/>
          </a:xfrm>
          <a:prstGeom prst="ellipse">
            <a:avLst/>
          </a:prstGeom>
          <a:solidFill>
            <a:schemeClr val="accent1"/>
          </a:solidFill>
          <a:ln/>
        </p:spPr>
      </p:sp>
      <p:pic>
        <p:nvPicPr>
          <p:cNvPr id="11" name="Waste 2 icon" descr="Waste 2">    </p:cNvPr>
          <p:cNvPicPr>
            <a:picLocks noChangeAspect="1"/>
          </p:cNvPicPr>
          <p:nvPr/>
        </p:nvPicPr>
        <p:blipFill>
          <a:blip r:embed="rId2"/>
          <a:stretch>
            <a:fillRect/>
          </a:stretch>
        </p:blipFill>
        <p:spPr>
          <a:xfrm>
            <a:off x="3723894" y="1794510"/>
            <a:ext cx="297180" cy="297180"/>
          </a:xfrm>
          <a:prstGeom prst="rect">
            <a:avLst/>
          </a:prstGeom>
        </p:spPr>
      </p:pic>
      <p:sp>
        <p:nvSpPr>
          <p:cNvPr id="12" name="Waste title 2"/>
          <p:cNvSpPr txBox="1"/>
          <p:nvPr/>
        </p:nvSpPr>
        <p:spPr>
          <a:xfrm>
            <a:off x="3575304" y="2377440"/>
            <a:ext cx="2194560" cy="640080"/>
          </a:xfrm>
          <a:prstGeom prst="rect">
            <a:avLst/>
          </a:prstGeom>
          <a:noFill/>
          <a:ln/>
        </p:spPr>
        <p:txBody>
          <a:bodyPr wrap="square" lIns="0" tIns="0" rIns="0" bIns="0" rtlCol="0" anchor="t"/>
          <a:lstStyle/>
          <a:p>
            <a:pPr algn="l" indent="0" marL="0">
              <a:buNone/>
            </a:pPr>
            <a:r>
              <a:rPr lang="en-US" sz="1600" b="1" dirty="0">
                <a:solidFill>
                  <a:schemeClr val="tx2"/>
                </a:solidFill>
              </a:rPr>
              <a:t>Knowledge graph for recovery</a:t>
            </a:r>
            <a:endParaRPr lang="en-US" sz="1600" dirty="0"/>
          </a:p>
        </p:txBody>
      </p:sp>
      <p:sp>
        <p:nvSpPr>
          <p:cNvPr id="13" name="Waste text 2"/>
          <p:cNvSpPr txBox="1"/>
          <p:nvPr/>
        </p:nvSpPr>
        <p:spPr>
          <a:xfrm>
            <a:off x="3575304" y="3063240"/>
            <a:ext cx="2194560" cy="1051560"/>
          </a:xfrm>
          <a:prstGeom prst="rect">
            <a:avLst/>
          </a:prstGeom>
          <a:noFill/>
          <a:ln/>
        </p:spPr>
        <p:txBody>
          <a:bodyPr wrap="square" lIns="0" tIns="0" rIns="0" bIns="0" rtlCol="0" anchor="t"/>
          <a:lstStyle/>
          <a:p>
            <a:pPr algn="l" indent="0" marL="0">
              <a:buNone/>
            </a:pPr>
            <a:r>
              <a:rPr lang="en-US" sz="1400" dirty="0">
                <a:solidFill>
                  <a:schemeClr val="tx1"/>
                </a:solidFill>
              </a:rPr>
              <a:t>Maps each material to its best reuse, recycling or recovery route</a:t>
            </a:r>
            <a:endParaRPr lang="en-US" sz="1400" dirty="0"/>
          </a:p>
        </p:txBody>
      </p:sp>
      <p:sp>
        <p:nvSpPr>
          <p:cNvPr id="14" name="arrow"/>
          <p:cNvSpPr/>
          <p:nvPr/>
        </p:nvSpPr>
        <p:spPr>
          <a:xfrm>
            <a:off x="5957316" y="1828800"/>
            <a:ext cx="274320" cy="274320"/>
          </a:xfrm>
          <a:prstGeom prst="rightArrow">
            <a:avLst/>
          </a:prstGeom>
          <a:solidFill>
            <a:schemeClr val="accent2"/>
          </a:solidFill>
          <a:ln/>
        </p:spPr>
      </p:sp>
      <p:sp>
        <p:nvSpPr>
          <p:cNvPr id="15" name="Waste card 3"/>
          <p:cNvSpPr/>
          <p:nvPr/>
        </p:nvSpPr>
        <p:spPr>
          <a:xfrm>
            <a:off x="6236208" y="1463040"/>
            <a:ext cx="2560320" cy="2743200"/>
          </a:xfrm>
          <a:prstGeom prst="roundRect">
            <a:avLst>
              <a:gd name="adj" fmla="val 4286"/>
            </a:avLst>
          </a:prstGeom>
          <a:solidFill>
            <a:schemeClr val="bg2"/>
          </a:solidFill>
          <a:ln/>
        </p:spPr>
      </p:sp>
      <p:sp>
        <p:nvSpPr>
          <p:cNvPr id="16" name="Waste 3 circle"/>
          <p:cNvSpPr/>
          <p:nvPr/>
        </p:nvSpPr>
        <p:spPr>
          <a:xfrm>
            <a:off x="6419088" y="1645920"/>
            <a:ext cx="594360" cy="594360"/>
          </a:xfrm>
          <a:prstGeom prst="ellipse">
            <a:avLst/>
          </a:prstGeom>
          <a:solidFill>
            <a:schemeClr val="accent1"/>
          </a:solidFill>
          <a:ln/>
        </p:spPr>
      </p:sp>
      <p:pic>
        <p:nvPicPr>
          <p:cNvPr id="17" name="Waste 3 icon" descr="Waste 3">    </p:cNvPr>
          <p:cNvPicPr>
            <a:picLocks noChangeAspect="1"/>
          </p:cNvPicPr>
          <p:nvPr/>
        </p:nvPicPr>
        <p:blipFill>
          <a:blip r:embed="rId3"/>
          <a:stretch>
            <a:fillRect/>
          </a:stretch>
        </p:blipFill>
        <p:spPr>
          <a:xfrm>
            <a:off x="6567678" y="1794510"/>
            <a:ext cx="297180" cy="297180"/>
          </a:xfrm>
          <a:prstGeom prst="rect">
            <a:avLst/>
          </a:prstGeom>
        </p:spPr>
      </p:pic>
      <p:sp>
        <p:nvSpPr>
          <p:cNvPr id="18" name="Waste title 3"/>
          <p:cNvSpPr txBox="1"/>
          <p:nvPr/>
        </p:nvSpPr>
        <p:spPr>
          <a:xfrm>
            <a:off x="6419088" y="2377440"/>
            <a:ext cx="2194560" cy="640080"/>
          </a:xfrm>
          <a:prstGeom prst="rect">
            <a:avLst/>
          </a:prstGeom>
          <a:noFill/>
          <a:ln/>
        </p:spPr>
        <p:txBody>
          <a:bodyPr wrap="square" lIns="0" tIns="0" rIns="0" bIns="0" rtlCol="0" anchor="t"/>
          <a:lstStyle/>
          <a:p>
            <a:pPr algn="l" indent="0" marL="0">
              <a:buNone/>
            </a:pPr>
            <a:r>
              <a:rPr lang="en-US" sz="1600" b="1" dirty="0">
                <a:solidFill>
                  <a:schemeClr val="tx2"/>
                </a:solidFill>
              </a:rPr>
              <a:t>Search-based collection planning</a:t>
            </a:r>
            <a:endParaRPr lang="en-US" sz="1600" dirty="0"/>
          </a:p>
        </p:txBody>
      </p:sp>
      <p:sp>
        <p:nvSpPr>
          <p:cNvPr id="19" name="Waste text 3"/>
          <p:cNvSpPr txBox="1"/>
          <p:nvPr/>
        </p:nvSpPr>
        <p:spPr>
          <a:xfrm>
            <a:off x="6419088" y="3063240"/>
            <a:ext cx="2194560" cy="1051560"/>
          </a:xfrm>
          <a:prstGeom prst="rect">
            <a:avLst/>
          </a:prstGeom>
          <a:noFill/>
          <a:ln/>
        </p:spPr>
        <p:txBody>
          <a:bodyPr wrap="square" lIns="0" tIns="0" rIns="0" bIns="0" rtlCol="0" anchor="t"/>
          <a:lstStyle/>
          <a:p>
            <a:pPr algn="l" indent="0" marL="0">
              <a:buNone/>
            </a:pPr>
            <a:r>
              <a:rPr lang="en-US" sz="1400" dirty="0">
                <a:solidFill>
                  <a:schemeClr val="tx1"/>
                </a:solidFill>
              </a:rPr>
              <a:t>A*-style routing finds the cheapest pickup routes and schedules</a:t>
            </a:r>
            <a:endParaRPr lang="en-US" sz="1400" dirty="0"/>
          </a:p>
        </p:txBody>
      </p:sp>
      <p:sp>
        <p:nvSpPr>
          <p:cNvPr id="20" name="arrow"/>
          <p:cNvSpPr/>
          <p:nvPr/>
        </p:nvSpPr>
        <p:spPr>
          <a:xfrm>
            <a:off x="8801100" y="1828800"/>
            <a:ext cx="274320" cy="274320"/>
          </a:xfrm>
          <a:prstGeom prst="rightArrow">
            <a:avLst/>
          </a:prstGeom>
          <a:solidFill>
            <a:schemeClr val="accent2"/>
          </a:solidFill>
          <a:ln/>
        </p:spPr>
      </p:sp>
      <p:sp>
        <p:nvSpPr>
          <p:cNvPr id="21" name="Waste card 4"/>
          <p:cNvSpPr/>
          <p:nvPr/>
        </p:nvSpPr>
        <p:spPr>
          <a:xfrm>
            <a:off x="9079992" y="1463040"/>
            <a:ext cx="2560320" cy="2743200"/>
          </a:xfrm>
          <a:prstGeom prst="roundRect">
            <a:avLst>
              <a:gd name="adj" fmla="val 4286"/>
            </a:avLst>
          </a:prstGeom>
          <a:solidFill>
            <a:schemeClr val="bg2"/>
          </a:solidFill>
          <a:ln/>
        </p:spPr>
      </p:sp>
      <p:sp>
        <p:nvSpPr>
          <p:cNvPr id="22" name="Waste 4 circle"/>
          <p:cNvSpPr/>
          <p:nvPr/>
        </p:nvSpPr>
        <p:spPr>
          <a:xfrm>
            <a:off x="9262872" y="1645920"/>
            <a:ext cx="594360" cy="594360"/>
          </a:xfrm>
          <a:prstGeom prst="ellipse">
            <a:avLst/>
          </a:prstGeom>
          <a:solidFill>
            <a:schemeClr val="accent1"/>
          </a:solidFill>
          <a:ln/>
        </p:spPr>
      </p:sp>
      <p:pic>
        <p:nvPicPr>
          <p:cNvPr id="23" name="Waste 4 icon" descr="Waste 4">    </p:cNvPr>
          <p:cNvPicPr>
            <a:picLocks noChangeAspect="1"/>
          </p:cNvPicPr>
          <p:nvPr/>
        </p:nvPicPr>
        <p:blipFill>
          <a:blip r:embed="rId4"/>
          <a:stretch>
            <a:fillRect/>
          </a:stretch>
        </p:blipFill>
        <p:spPr>
          <a:xfrm>
            <a:off x="9411462" y="1794510"/>
            <a:ext cx="297180" cy="297180"/>
          </a:xfrm>
          <a:prstGeom prst="rect">
            <a:avLst/>
          </a:prstGeom>
        </p:spPr>
      </p:pic>
      <p:sp>
        <p:nvSpPr>
          <p:cNvPr id="24" name="Waste title 4"/>
          <p:cNvSpPr txBox="1"/>
          <p:nvPr/>
        </p:nvSpPr>
        <p:spPr>
          <a:xfrm>
            <a:off x="9262872" y="2377440"/>
            <a:ext cx="2194560" cy="640080"/>
          </a:xfrm>
          <a:prstGeom prst="rect">
            <a:avLst/>
          </a:prstGeom>
          <a:noFill/>
          <a:ln/>
        </p:spPr>
        <p:txBody>
          <a:bodyPr wrap="square" lIns="0" tIns="0" rIns="0" bIns="0" rtlCol="0" anchor="t"/>
          <a:lstStyle/>
          <a:p>
            <a:pPr algn="l" indent="0" marL="0">
              <a:buNone/>
            </a:pPr>
            <a:r>
              <a:rPr lang="en-US" sz="1600" b="1" dirty="0">
                <a:solidFill>
                  <a:schemeClr val="tx2"/>
                </a:solidFill>
              </a:rPr>
              <a:t>Automated segregation</a:t>
            </a:r>
            <a:endParaRPr lang="en-US" sz="1600" dirty="0"/>
          </a:p>
        </p:txBody>
      </p:sp>
      <p:sp>
        <p:nvSpPr>
          <p:cNvPr id="25" name="Waste text 4"/>
          <p:cNvSpPr txBox="1"/>
          <p:nvPr/>
        </p:nvSpPr>
        <p:spPr>
          <a:xfrm>
            <a:off x="9262872" y="3063240"/>
            <a:ext cx="2194560" cy="1051560"/>
          </a:xfrm>
          <a:prstGeom prst="rect">
            <a:avLst/>
          </a:prstGeom>
          <a:noFill/>
          <a:ln/>
        </p:spPr>
        <p:txBody>
          <a:bodyPr wrap="square" lIns="0" tIns="0" rIns="0" bIns="0" rtlCol="0" anchor="t"/>
          <a:lstStyle/>
          <a:p>
            <a:pPr algn="l" indent="0" marL="0">
              <a:buNone/>
            </a:pPr>
            <a:r>
              <a:rPr lang="en-US" sz="1400" dirty="0">
                <a:solidFill>
                  <a:schemeClr val="tx1"/>
                </a:solidFill>
              </a:rPr>
              <a:t>Conveyors and robotic arms sort waste using the CNN's output</a:t>
            </a:r>
            <a:endParaRPr lang="en-US" sz="1400" dirty="0"/>
          </a:p>
        </p:txBody>
      </p:sp>
      <p:sp>
        <p:nvSpPr>
          <p:cNvPr id="26" name="ITC case band"/>
          <p:cNvSpPr/>
          <p:nvPr/>
        </p:nvSpPr>
        <p:spPr>
          <a:xfrm>
            <a:off x="548640" y="4480560"/>
            <a:ext cx="11091672" cy="1600200"/>
          </a:xfrm>
          <a:prstGeom prst="roundRect">
            <a:avLst>
              <a:gd name="adj" fmla="val 6857"/>
            </a:avLst>
          </a:prstGeom>
          <a:solidFill>
            <a:schemeClr val="tx2"/>
          </a:solidFill>
          <a:ln/>
        </p:spPr>
      </p:sp>
      <p:sp>
        <p:nvSpPr>
          <p:cNvPr id="27" name="ITC label"/>
          <p:cNvSpPr txBox="1"/>
          <p:nvPr/>
        </p:nvSpPr>
        <p:spPr>
          <a:xfrm>
            <a:off x="868680" y="466344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ITC CASE STUDY</a:t>
            </a:r>
            <a:endParaRPr lang="en-US" sz="1200" dirty="0"/>
          </a:p>
        </p:txBody>
      </p:sp>
      <p:sp>
        <p:nvSpPr>
          <p:cNvPr id="28" name="ITC heading"/>
          <p:cNvSpPr txBox="1"/>
          <p:nvPr/>
        </p:nvSpPr>
        <p:spPr>
          <a:xfrm>
            <a:off x="868680" y="4956048"/>
            <a:ext cx="7772400" cy="365760"/>
          </a:xfrm>
          <a:prstGeom prst="rect">
            <a:avLst/>
          </a:prstGeom>
          <a:noFill/>
          <a:ln/>
        </p:spPr>
        <p:txBody>
          <a:bodyPr wrap="square" lIns="0" tIns="0" rIns="0" bIns="0" rtlCol="0" anchor="t"/>
          <a:lstStyle/>
          <a:p>
            <a:pPr algn="l" indent="0" marL="0">
              <a:buNone/>
            </a:pPr>
            <a:r>
              <a:rPr lang="en-US" sz="1800" b="1" dirty="0">
                <a:solidFill>
                  <a:schemeClr val="bg1"/>
                </a:solidFill>
              </a:rPr>
              <a:t>Well-being Out of Waste (WOW)</a:t>
            </a:r>
            <a:endParaRPr lang="en-US" sz="1800" dirty="0"/>
          </a:p>
        </p:txBody>
      </p:sp>
      <p:sp>
        <p:nvSpPr>
          <p:cNvPr id="29" name="ITC text"/>
          <p:cNvSpPr txBox="1"/>
          <p:nvPr/>
        </p:nvSpPr>
        <p:spPr>
          <a:xfrm>
            <a:off x="868680" y="5394960"/>
            <a:ext cx="8412480" cy="594360"/>
          </a:xfrm>
          <a:prstGeom prst="rect">
            <a:avLst/>
          </a:prstGeom>
          <a:noFill/>
          <a:ln/>
        </p:spPr>
        <p:txBody>
          <a:bodyPr wrap="square" lIns="0" tIns="0" rIns="0" bIns="0" rtlCol="0" anchor="t"/>
          <a:lstStyle/>
          <a:p>
            <a:pPr algn="l" indent="0" marL="0">
              <a:buNone/>
            </a:pPr>
            <a:r>
              <a:rPr lang="en-US" sz="1400" dirty="0">
                <a:solidFill>
                  <a:schemeClr val="bg2"/>
                </a:solidFill>
              </a:rPr>
              <a:t>ITC's WOW programme drives segregation and recycling of solid waste across its operations and communities. AI classification and tracking would make this circular-economy model easier to scale.</a:t>
            </a:r>
            <a:endParaRPr lang="en-US" sz="1400" dirty="0"/>
          </a:p>
        </p:txBody>
      </p:sp>
      <p:sp>
        <p:nvSpPr>
          <p:cNvPr id="30" name="ITC recycle circle"/>
          <p:cNvSpPr/>
          <p:nvPr/>
        </p:nvSpPr>
        <p:spPr>
          <a:xfrm>
            <a:off x="10241280" y="4828032"/>
            <a:ext cx="1005840" cy="1005840"/>
          </a:xfrm>
          <a:prstGeom prst="ellipse">
            <a:avLst/>
          </a:prstGeom>
          <a:solidFill>
            <a:schemeClr val="accent1"/>
          </a:solidFill>
          <a:ln/>
        </p:spPr>
      </p:sp>
      <p:pic>
        <p:nvPicPr>
          <p:cNvPr id="31" name="ITC recycle icon" descr="ITC recycle">    </p:cNvPr>
          <p:cNvPicPr>
            <a:picLocks noChangeAspect="1"/>
          </p:cNvPicPr>
          <p:nvPr/>
        </p:nvPicPr>
        <p:blipFill>
          <a:blip r:embed="rId5"/>
          <a:stretch>
            <a:fillRect/>
          </a:stretch>
        </p:blipFill>
        <p:spPr>
          <a:xfrm>
            <a:off x="10492740" y="5079492"/>
            <a:ext cx="502920" cy="502920"/>
          </a:xfrm>
          <a:prstGeom prst="rect">
            <a:avLst/>
          </a:prstGeom>
        </p:spPr>
      </p:pic>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AI for Environmental Impact Monitoring</a:t>
            </a:r>
            <a:endParaRPr lang="en-US" sz="3200" dirty="0"/>
          </a:p>
        </p:txBody>
      </p:sp>
      <p:sp>
        <p:nvSpPr>
          <p:cNvPr id="3" name="Monitor card 1"/>
          <p:cNvSpPr/>
          <p:nvPr/>
        </p:nvSpPr>
        <p:spPr>
          <a:xfrm>
            <a:off x="548640" y="1463040"/>
            <a:ext cx="3566160" cy="2834640"/>
          </a:xfrm>
          <a:prstGeom prst="roundRect">
            <a:avLst>
              <a:gd name="adj" fmla="val 3871"/>
            </a:avLst>
          </a:prstGeom>
          <a:solidFill>
            <a:schemeClr val="bg2"/>
          </a:solidFill>
          <a:ln/>
        </p:spPr>
      </p:sp>
      <p:sp>
        <p:nvSpPr>
          <p:cNvPr id="4" name="Monitor 1 circle"/>
          <p:cNvSpPr/>
          <p:nvPr/>
        </p:nvSpPr>
        <p:spPr>
          <a:xfrm>
            <a:off x="777240" y="1645920"/>
            <a:ext cx="548640" cy="548640"/>
          </a:xfrm>
          <a:prstGeom prst="ellipse">
            <a:avLst/>
          </a:prstGeom>
          <a:solidFill>
            <a:schemeClr val="accent1"/>
          </a:solidFill>
          <a:ln/>
        </p:spPr>
      </p:sp>
      <p:pic>
        <p:nvPicPr>
          <p:cNvPr id="5" name="Monitor 1 icon" descr="Monitor 1">    </p:cNvPr>
          <p:cNvPicPr>
            <a:picLocks noChangeAspect="1"/>
          </p:cNvPicPr>
          <p:nvPr/>
        </p:nvPicPr>
        <p:blipFill>
          <a:blip r:embed="rId1"/>
          <a:stretch>
            <a:fillRect/>
          </a:stretch>
        </p:blipFill>
        <p:spPr>
          <a:xfrm>
            <a:off x="914400" y="1783080"/>
            <a:ext cx="274320" cy="274320"/>
          </a:xfrm>
          <a:prstGeom prst="rect">
            <a:avLst/>
          </a:prstGeom>
        </p:spPr>
      </p:pic>
      <p:sp>
        <p:nvSpPr>
          <p:cNvPr id="6" name="Monitor title 1"/>
          <p:cNvSpPr txBox="1"/>
          <p:nvPr/>
        </p:nvSpPr>
        <p:spPr>
          <a:xfrm>
            <a:off x="1508760" y="1645920"/>
            <a:ext cx="2377440" cy="548640"/>
          </a:xfrm>
          <a:prstGeom prst="rect">
            <a:avLst/>
          </a:prstGeom>
          <a:noFill/>
          <a:ln/>
        </p:spPr>
        <p:txBody>
          <a:bodyPr wrap="square" lIns="0" tIns="0" rIns="0" bIns="0" rtlCol="0" anchor="ctr"/>
          <a:lstStyle/>
          <a:p>
            <a:pPr algn="l" indent="0" marL="0">
              <a:buNone/>
            </a:pPr>
            <a:r>
              <a:rPr lang="en-US" sz="2000" b="1" dirty="0">
                <a:solidFill>
                  <a:schemeClr val="tx2"/>
                </a:solidFill>
              </a:rPr>
              <a:t>Measure</a:t>
            </a:r>
            <a:endParaRPr lang="en-US" sz="2000" dirty="0"/>
          </a:p>
        </p:txBody>
      </p:sp>
      <p:sp>
        <p:nvSpPr>
          <p:cNvPr id="7" name="Monitor list 1"/>
          <p:cNvSpPr txBox="1"/>
          <p:nvPr/>
        </p:nvSpPr>
        <p:spPr>
          <a:xfrm>
            <a:off x="777240" y="2423160"/>
            <a:ext cx="3108960" cy="17373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Carbon footprint calculated from energy, fuel and supply-chain data</a:t>
            </a:r>
            <a:endParaRPr lang="en-US" sz="1400" dirty="0"/>
          </a:p>
          <a:p>
            <a:pPr algn="l" marL="342900" indent="-342900">
              <a:spcAft>
                <a:spcPts val="600"/>
              </a:spcAft>
              <a:buSzPct val="100000"/>
              <a:buChar char="•"/>
            </a:pPr>
            <a:r>
              <a:rPr lang="en-US" sz="1400" dirty="0">
                <a:solidFill>
                  <a:schemeClr val="tx1"/>
                </a:solidFill>
              </a:rPr>
              <a:t>Air emissions and water quality tracked through live sensors</a:t>
            </a:r>
            <a:endParaRPr lang="en-US" sz="1400" dirty="0"/>
          </a:p>
        </p:txBody>
      </p:sp>
      <p:sp>
        <p:nvSpPr>
          <p:cNvPr id="8" name="arrow"/>
          <p:cNvSpPr/>
          <p:nvPr/>
        </p:nvSpPr>
        <p:spPr>
          <a:xfrm>
            <a:off x="4114800" y="2743200"/>
            <a:ext cx="196596" cy="320040"/>
          </a:xfrm>
          <a:prstGeom prst="rightArrow">
            <a:avLst/>
          </a:prstGeom>
          <a:solidFill>
            <a:schemeClr val="accent2"/>
          </a:solidFill>
          <a:ln/>
        </p:spPr>
      </p:sp>
      <p:sp>
        <p:nvSpPr>
          <p:cNvPr id="9" name="Monitor card 2"/>
          <p:cNvSpPr/>
          <p:nvPr/>
        </p:nvSpPr>
        <p:spPr>
          <a:xfrm>
            <a:off x="4311396" y="1463040"/>
            <a:ext cx="3566160" cy="2834640"/>
          </a:xfrm>
          <a:prstGeom prst="roundRect">
            <a:avLst>
              <a:gd name="adj" fmla="val 3871"/>
            </a:avLst>
          </a:prstGeom>
          <a:solidFill>
            <a:schemeClr val="bg2"/>
          </a:solidFill>
          <a:ln/>
        </p:spPr>
      </p:sp>
      <p:sp>
        <p:nvSpPr>
          <p:cNvPr id="10" name="Monitor 2 circle"/>
          <p:cNvSpPr/>
          <p:nvPr/>
        </p:nvSpPr>
        <p:spPr>
          <a:xfrm>
            <a:off x="4539996" y="1645920"/>
            <a:ext cx="548640" cy="548640"/>
          </a:xfrm>
          <a:prstGeom prst="ellipse">
            <a:avLst/>
          </a:prstGeom>
          <a:solidFill>
            <a:schemeClr val="accent1"/>
          </a:solidFill>
          <a:ln/>
        </p:spPr>
      </p:sp>
      <p:pic>
        <p:nvPicPr>
          <p:cNvPr id="11" name="Monitor 2 icon" descr="Monitor 2">    </p:cNvPr>
          <p:cNvPicPr>
            <a:picLocks noChangeAspect="1"/>
          </p:cNvPicPr>
          <p:nvPr/>
        </p:nvPicPr>
        <p:blipFill>
          <a:blip r:embed="rId2"/>
          <a:stretch>
            <a:fillRect/>
          </a:stretch>
        </p:blipFill>
        <p:spPr>
          <a:xfrm>
            <a:off x="4677156" y="1783080"/>
            <a:ext cx="274320" cy="274320"/>
          </a:xfrm>
          <a:prstGeom prst="rect">
            <a:avLst/>
          </a:prstGeom>
        </p:spPr>
      </p:pic>
      <p:sp>
        <p:nvSpPr>
          <p:cNvPr id="12" name="Monitor title 2"/>
          <p:cNvSpPr txBox="1"/>
          <p:nvPr/>
        </p:nvSpPr>
        <p:spPr>
          <a:xfrm>
            <a:off x="5271516" y="1645920"/>
            <a:ext cx="2377440" cy="548640"/>
          </a:xfrm>
          <a:prstGeom prst="rect">
            <a:avLst/>
          </a:prstGeom>
          <a:noFill/>
          <a:ln/>
        </p:spPr>
        <p:txBody>
          <a:bodyPr wrap="square" lIns="0" tIns="0" rIns="0" bIns="0" rtlCol="0" anchor="ctr"/>
          <a:lstStyle/>
          <a:p>
            <a:pPr algn="l" indent="0" marL="0">
              <a:buNone/>
            </a:pPr>
            <a:r>
              <a:rPr lang="en-US" sz="2000" b="1" dirty="0">
                <a:solidFill>
                  <a:schemeClr val="tx2"/>
                </a:solidFill>
              </a:rPr>
              <a:t>Detect</a:t>
            </a:r>
            <a:endParaRPr lang="en-US" sz="2000" dirty="0"/>
          </a:p>
        </p:txBody>
      </p:sp>
      <p:sp>
        <p:nvSpPr>
          <p:cNvPr id="13" name="Monitor list 2"/>
          <p:cNvSpPr txBox="1"/>
          <p:nvPr/>
        </p:nvSpPr>
        <p:spPr>
          <a:xfrm>
            <a:off x="4539996" y="2423160"/>
            <a:ext cx="3108960" cy="17373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Rule-based alerts when readings cross legal or internal limits</a:t>
            </a:r>
            <a:endParaRPr lang="en-US" sz="1400" dirty="0"/>
          </a:p>
          <a:p>
            <a:pPr algn="l" marL="342900" indent="-342900">
              <a:spcAft>
                <a:spcPts val="600"/>
              </a:spcAft>
              <a:buSzPct val="100000"/>
              <a:buChar char="•"/>
            </a:pPr>
            <a:r>
              <a:rPr lang="en-US" sz="1400" dirty="0">
                <a:solidFill>
                  <a:schemeClr val="tx1"/>
                </a:solidFill>
              </a:rPr>
              <a:t>ML anomaly detection spots drift before a limit is breached</a:t>
            </a:r>
            <a:endParaRPr lang="en-US" sz="1400" dirty="0"/>
          </a:p>
        </p:txBody>
      </p:sp>
      <p:sp>
        <p:nvSpPr>
          <p:cNvPr id="14" name="arrow"/>
          <p:cNvSpPr/>
          <p:nvPr/>
        </p:nvSpPr>
        <p:spPr>
          <a:xfrm>
            <a:off x="7877556" y="2743200"/>
            <a:ext cx="196596" cy="320040"/>
          </a:xfrm>
          <a:prstGeom prst="rightArrow">
            <a:avLst/>
          </a:prstGeom>
          <a:solidFill>
            <a:schemeClr val="accent2"/>
          </a:solidFill>
          <a:ln/>
        </p:spPr>
      </p:sp>
      <p:sp>
        <p:nvSpPr>
          <p:cNvPr id="15" name="Monitor card 3"/>
          <p:cNvSpPr/>
          <p:nvPr/>
        </p:nvSpPr>
        <p:spPr>
          <a:xfrm>
            <a:off x="8074152" y="1463040"/>
            <a:ext cx="3566160" cy="2834640"/>
          </a:xfrm>
          <a:prstGeom prst="roundRect">
            <a:avLst>
              <a:gd name="adj" fmla="val 3871"/>
            </a:avLst>
          </a:prstGeom>
          <a:solidFill>
            <a:schemeClr val="bg2"/>
          </a:solidFill>
          <a:ln/>
        </p:spPr>
      </p:sp>
      <p:sp>
        <p:nvSpPr>
          <p:cNvPr id="16" name="Monitor 3 circle"/>
          <p:cNvSpPr/>
          <p:nvPr/>
        </p:nvSpPr>
        <p:spPr>
          <a:xfrm>
            <a:off x="8302752" y="1645920"/>
            <a:ext cx="548640" cy="548640"/>
          </a:xfrm>
          <a:prstGeom prst="ellipse">
            <a:avLst/>
          </a:prstGeom>
          <a:solidFill>
            <a:schemeClr val="accent1"/>
          </a:solidFill>
          <a:ln/>
        </p:spPr>
      </p:sp>
      <p:pic>
        <p:nvPicPr>
          <p:cNvPr id="17" name="Monitor 3 icon" descr="Monitor 3">    </p:cNvPr>
          <p:cNvPicPr>
            <a:picLocks noChangeAspect="1"/>
          </p:cNvPicPr>
          <p:nvPr/>
        </p:nvPicPr>
        <p:blipFill>
          <a:blip r:embed="rId3"/>
          <a:stretch>
            <a:fillRect/>
          </a:stretch>
        </p:blipFill>
        <p:spPr>
          <a:xfrm>
            <a:off x="8439912" y="1783080"/>
            <a:ext cx="274320" cy="274320"/>
          </a:xfrm>
          <a:prstGeom prst="rect">
            <a:avLst/>
          </a:prstGeom>
        </p:spPr>
      </p:pic>
      <p:sp>
        <p:nvSpPr>
          <p:cNvPr id="18" name="Monitor title 3"/>
          <p:cNvSpPr txBox="1"/>
          <p:nvPr/>
        </p:nvSpPr>
        <p:spPr>
          <a:xfrm>
            <a:off x="9034272" y="1645920"/>
            <a:ext cx="2377440" cy="548640"/>
          </a:xfrm>
          <a:prstGeom prst="rect">
            <a:avLst/>
          </a:prstGeom>
          <a:noFill/>
          <a:ln/>
        </p:spPr>
        <p:txBody>
          <a:bodyPr wrap="square" lIns="0" tIns="0" rIns="0" bIns="0" rtlCol="0" anchor="ctr"/>
          <a:lstStyle/>
          <a:p>
            <a:pPr algn="l" indent="0" marL="0">
              <a:buNone/>
            </a:pPr>
            <a:r>
              <a:rPr lang="en-US" sz="2000" b="1" dirty="0">
                <a:solidFill>
                  <a:schemeClr val="tx2"/>
                </a:solidFill>
              </a:rPr>
              <a:t>Act</a:t>
            </a:r>
            <a:endParaRPr lang="en-US" sz="2000" dirty="0"/>
          </a:p>
        </p:txBody>
      </p:sp>
      <p:sp>
        <p:nvSpPr>
          <p:cNvPr id="19" name="Monitor list 3"/>
          <p:cNvSpPr txBox="1"/>
          <p:nvPr/>
        </p:nvSpPr>
        <p:spPr>
          <a:xfrm>
            <a:off x="8302752" y="2423160"/>
            <a:ext cx="3108960" cy="17373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Expert system suggests fixes, such as tuning a furnace or servicing a scrubber</a:t>
            </a:r>
            <a:endParaRPr lang="en-US" sz="1400" dirty="0"/>
          </a:p>
          <a:p>
            <a:pPr algn="l" marL="342900" indent="-342900">
              <a:spcAft>
                <a:spcPts val="600"/>
              </a:spcAft>
              <a:buSzPct val="100000"/>
              <a:buChar char="•"/>
            </a:pPr>
            <a:r>
              <a:rPr lang="en-US" sz="1400" dirty="0">
                <a:solidFill>
                  <a:schemeClr val="tx1"/>
                </a:solidFill>
              </a:rPr>
              <a:t>Each recommendation comes with the reason behind it</a:t>
            </a:r>
            <a:endParaRPr lang="en-US" sz="1400" dirty="0"/>
          </a:p>
        </p:txBody>
      </p:sp>
      <p:sp>
        <p:nvSpPr>
          <p:cNvPr id="20" name="Case card 1"/>
          <p:cNvSpPr/>
          <p:nvPr/>
        </p:nvSpPr>
        <p:spPr>
          <a:xfrm>
            <a:off x="548640" y="4526280"/>
            <a:ext cx="5449824" cy="1554480"/>
          </a:xfrm>
          <a:prstGeom prst="roundRect">
            <a:avLst>
              <a:gd name="adj" fmla="val 7059"/>
            </a:avLst>
          </a:prstGeom>
          <a:solidFill>
            <a:schemeClr val="tx2"/>
          </a:solidFill>
          <a:ln/>
        </p:spPr>
      </p:sp>
      <p:sp>
        <p:nvSpPr>
          <p:cNvPr id="21" name="Case label 1"/>
          <p:cNvSpPr txBox="1"/>
          <p:nvPr/>
        </p:nvSpPr>
        <p:spPr>
          <a:xfrm>
            <a:off x="822960" y="4709160"/>
            <a:ext cx="493776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CASE STUDY: RELIANCE INDUSTRIES</a:t>
            </a:r>
            <a:endParaRPr lang="en-US" sz="1200" dirty="0"/>
          </a:p>
        </p:txBody>
      </p:sp>
      <p:sp>
        <p:nvSpPr>
          <p:cNvPr id="22" name="Case text 1"/>
          <p:cNvSpPr txBox="1"/>
          <p:nvPr/>
        </p:nvSpPr>
        <p:spPr>
          <a:xfrm>
            <a:off x="822960" y="5074920"/>
            <a:ext cx="4937760" cy="914400"/>
          </a:xfrm>
          <a:prstGeom prst="rect">
            <a:avLst/>
          </a:prstGeom>
          <a:noFill/>
          <a:ln/>
        </p:spPr>
        <p:txBody>
          <a:bodyPr wrap="square" lIns="0" tIns="0" rIns="0" bIns="0" rtlCol="0" anchor="t"/>
          <a:lstStyle/>
          <a:p>
            <a:pPr algn="l" indent="0" marL="0">
              <a:buNone/>
            </a:pPr>
            <a:r>
              <a:rPr lang="en-US" sz="1400" dirty="0">
                <a:solidFill>
                  <a:schemeClr val="bg1"/>
                </a:solidFill>
              </a:rPr>
              <a:t>Has committed to net carbon zero by 2035, backed by large-scale emissions tracking across its refining and new-energy businesses.</a:t>
            </a:r>
            <a:endParaRPr lang="en-US" sz="1400" dirty="0"/>
          </a:p>
        </p:txBody>
      </p:sp>
      <p:sp>
        <p:nvSpPr>
          <p:cNvPr id="23" name="Case card 2"/>
          <p:cNvSpPr/>
          <p:nvPr/>
        </p:nvSpPr>
        <p:spPr>
          <a:xfrm>
            <a:off x="6190488" y="4526280"/>
            <a:ext cx="5449824" cy="1554480"/>
          </a:xfrm>
          <a:prstGeom prst="roundRect">
            <a:avLst>
              <a:gd name="adj" fmla="val 7059"/>
            </a:avLst>
          </a:prstGeom>
          <a:solidFill>
            <a:schemeClr val="tx2"/>
          </a:solidFill>
          <a:ln/>
        </p:spPr>
      </p:sp>
      <p:sp>
        <p:nvSpPr>
          <p:cNvPr id="24" name="Case label 2"/>
          <p:cNvSpPr txBox="1"/>
          <p:nvPr/>
        </p:nvSpPr>
        <p:spPr>
          <a:xfrm>
            <a:off x="6464808" y="4709160"/>
            <a:ext cx="493776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CASE STUDY: ADANI GROUP</a:t>
            </a:r>
            <a:endParaRPr lang="en-US" sz="1200" dirty="0"/>
          </a:p>
        </p:txBody>
      </p:sp>
      <p:sp>
        <p:nvSpPr>
          <p:cNvPr id="25" name="Case text 2"/>
          <p:cNvSpPr txBox="1"/>
          <p:nvPr/>
        </p:nvSpPr>
        <p:spPr>
          <a:xfrm>
            <a:off x="6464808" y="5074920"/>
            <a:ext cx="4937760" cy="914400"/>
          </a:xfrm>
          <a:prstGeom prst="rect">
            <a:avLst/>
          </a:prstGeom>
          <a:noFill/>
          <a:ln/>
        </p:spPr>
        <p:txBody>
          <a:bodyPr wrap="square" lIns="0" tIns="0" rIns="0" bIns="0" rtlCol="0" anchor="t"/>
          <a:lstStyle/>
          <a:p>
            <a:pPr algn="l" indent="0" marL="0">
              <a:buNone/>
            </a:pPr>
            <a:r>
              <a:rPr lang="en-US" sz="1400" dirty="0">
                <a:solidFill>
                  <a:schemeClr val="bg1"/>
                </a:solidFill>
              </a:rPr>
              <a:t>Tracks its renewable plants from a central energy network operations centre in Ahmedabad, using analytics to spot underperformance early.</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Agentic AI &amp; Intelligent Automation</a:t>
            </a:r>
            <a:endParaRPr lang="en-US" sz="3200" dirty="0"/>
          </a:p>
        </p:txBody>
      </p:sp>
      <p:sp>
        <p:nvSpPr>
          <p:cNvPr id="3" name="Loop card 1"/>
          <p:cNvSpPr/>
          <p:nvPr/>
        </p:nvSpPr>
        <p:spPr>
          <a:xfrm>
            <a:off x="548640" y="1463040"/>
            <a:ext cx="2331720" cy="2103120"/>
          </a:xfrm>
          <a:prstGeom prst="roundRect">
            <a:avLst>
              <a:gd name="adj" fmla="val 5217"/>
            </a:avLst>
          </a:prstGeom>
          <a:solidFill>
            <a:schemeClr val="bg2"/>
          </a:solidFill>
          <a:ln/>
        </p:spPr>
      </p:sp>
      <p:sp>
        <p:nvSpPr>
          <p:cNvPr id="4" name="Loop 1 circle"/>
          <p:cNvSpPr/>
          <p:nvPr/>
        </p:nvSpPr>
        <p:spPr>
          <a:xfrm>
            <a:off x="777240" y="1645920"/>
            <a:ext cx="548640" cy="548640"/>
          </a:xfrm>
          <a:prstGeom prst="ellipse">
            <a:avLst/>
          </a:prstGeom>
          <a:solidFill>
            <a:schemeClr val="accent1"/>
          </a:solidFill>
          <a:ln/>
        </p:spPr>
      </p:sp>
      <p:pic>
        <p:nvPicPr>
          <p:cNvPr id="5" name="Loop 1 icon" descr="Loop 1">    </p:cNvPr>
          <p:cNvPicPr>
            <a:picLocks noChangeAspect="1"/>
          </p:cNvPicPr>
          <p:nvPr/>
        </p:nvPicPr>
        <p:blipFill>
          <a:blip r:embed="rId1"/>
          <a:stretch>
            <a:fillRect/>
          </a:stretch>
        </p:blipFill>
        <p:spPr>
          <a:xfrm>
            <a:off x="914400" y="1783080"/>
            <a:ext cx="274320" cy="274320"/>
          </a:xfrm>
          <a:prstGeom prst="rect">
            <a:avLst/>
          </a:prstGeom>
        </p:spPr>
      </p:pic>
      <p:sp>
        <p:nvSpPr>
          <p:cNvPr id="6" name="Loop title 1"/>
          <p:cNvSpPr txBox="1"/>
          <p:nvPr/>
        </p:nvSpPr>
        <p:spPr>
          <a:xfrm>
            <a:off x="1463040" y="1645920"/>
            <a:ext cx="1325880" cy="548640"/>
          </a:xfrm>
          <a:prstGeom prst="rect">
            <a:avLst/>
          </a:prstGeom>
          <a:noFill/>
          <a:ln/>
        </p:spPr>
        <p:txBody>
          <a:bodyPr wrap="square" lIns="0" tIns="0" rIns="0" bIns="0" rtlCol="0" anchor="ctr"/>
          <a:lstStyle/>
          <a:p>
            <a:pPr algn="l" indent="0" marL="0">
              <a:buNone/>
            </a:pPr>
            <a:r>
              <a:rPr lang="en-US" sz="1800" b="1" dirty="0">
                <a:solidFill>
                  <a:schemeClr val="tx2"/>
                </a:solidFill>
              </a:rPr>
              <a:t>1. Observe</a:t>
            </a:r>
            <a:endParaRPr lang="en-US" sz="1800" dirty="0"/>
          </a:p>
        </p:txBody>
      </p:sp>
      <p:sp>
        <p:nvSpPr>
          <p:cNvPr id="7" name="Loop text 1"/>
          <p:cNvSpPr txBox="1"/>
          <p:nvPr/>
        </p:nvSpPr>
        <p:spPr>
          <a:xfrm>
            <a:off x="777240" y="2423160"/>
            <a:ext cx="1920240" cy="1051560"/>
          </a:xfrm>
          <a:prstGeom prst="rect">
            <a:avLst/>
          </a:prstGeom>
          <a:noFill/>
          <a:ln/>
        </p:spPr>
        <p:txBody>
          <a:bodyPr wrap="square" lIns="0" tIns="0" rIns="0" bIns="0" rtlCol="0" anchor="t"/>
          <a:lstStyle/>
          <a:p>
            <a:pPr algn="l" indent="0" marL="0">
              <a:buNone/>
            </a:pPr>
            <a:r>
              <a:rPr lang="en-US" sz="1400" dirty="0">
                <a:solidFill>
                  <a:schemeClr val="tx1"/>
                </a:solidFill>
              </a:rPr>
              <a:t>Reads live sensor, meter and ERP data</a:t>
            </a:r>
            <a:endParaRPr lang="en-US" sz="1400" dirty="0"/>
          </a:p>
        </p:txBody>
      </p:sp>
      <p:sp>
        <p:nvSpPr>
          <p:cNvPr id="8" name="arrow"/>
          <p:cNvSpPr/>
          <p:nvPr/>
        </p:nvSpPr>
        <p:spPr>
          <a:xfrm>
            <a:off x="2990088" y="2331720"/>
            <a:ext cx="365760" cy="365760"/>
          </a:xfrm>
          <a:prstGeom prst="rightArrow">
            <a:avLst/>
          </a:prstGeom>
          <a:solidFill>
            <a:schemeClr val="accent2"/>
          </a:solidFill>
          <a:ln/>
        </p:spPr>
      </p:sp>
      <p:sp>
        <p:nvSpPr>
          <p:cNvPr id="9" name="Loop card 2"/>
          <p:cNvSpPr/>
          <p:nvPr/>
        </p:nvSpPr>
        <p:spPr>
          <a:xfrm>
            <a:off x="3465576" y="1463040"/>
            <a:ext cx="2331720" cy="2103120"/>
          </a:xfrm>
          <a:prstGeom prst="roundRect">
            <a:avLst>
              <a:gd name="adj" fmla="val 5217"/>
            </a:avLst>
          </a:prstGeom>
          <a:solidFill>
            <a:schemeClr val="bg2"/>
          </a:solidFill>
          <a:ln/>
        </p:spPr>
      </p:sp>
      <p:sp>
        <p:nvSpPr>
          <p:cNvPr id="10" name="Loop 2 circle"/>
          <p:cNvSpPr/>
          <p:nvPr/>
        </p:nvSpPr>
        <p:spPr>
          <a:xfrm>
            <a:off x="3694176" y="1645920"/>
            <a:ext cx="548640" cy="548640"/>
          </a:xfrm>
          <a:prstGeom prst="ellipse">
            <a:avLst/>
          </a:prstGeom>
          <a:solidFill>
            <a:schemeClr val="accent1"/>
          </a:solidFill>
          <a:ln/>
        </p:spPr>
      </p:sp>
      <p:pic>
        <p:nvPicPr>
          <p:cNvPr id="11" name="Loop 2 icon" descr="Loop 2">    </p:cNvPr>
          <p:cNvPicPr>
            <a:picLocks noChangeAspect="1"/>
          </p:cNvPicPr>
          <p:nvPr/>
        </p:nvPicPr>
        <p:blipFill>
          <a:blip r:embed="rId2"/>
          <a:stretch>
            <a:fillRect/>
          </a:stretch>
        </p:blipFill>
        <p:spPr>
          <a:xfrm>
            <a:off x="3831336" y="1783080"/>
            <a:ext cx="274320" cy="274320"/>
          </a:xfrm>
          <a:prstGeom prst="rect">
            <a:avLst/>
          </a:prstGeom>
        </p:spPr>
      </p:pic>
      <p:sp>
        <p:nvSpPr>
          <p:cNvPr id="12" name="Loop title 2"/>
          <p:cNvSpPr txBox="1"/>
          <p:nvPr/>
        </p:nvSpPr>
        <p:spPr>
          <a:xfrm>
            <a:off x="4379976" y="1645920"/>
            <a:ext cx="1325880" cy="548640"/>
          </a:xfrm>
          <a:prstGeom prst="rect">
            <a:avLst/>
          </a:prstGeom>
          <a:noFill/>
          <a:ln/>
        </p:spPr>
        <p:txBody>
          <a:bodyPr wrap="square" lIns="0" tIns="0" rIns="0" bIns="0" rtlCol="0" anchor="ctr"/>
          <a:lstStyle/>
          <a:p>
            <a:pPr algn="l" indent="0" marL="0">
              <a:buNone/>
            </a:pPr>
            <a:r>
              <a:rPr lang="en-US" sz="1800" b="1" dirty="0">
                <a:solidFill>
                  <a:schemeClr val="tx2"/>
                </a:solidFill>
              </a:rPr>
              <a:t>2. Analyse</a:t>
            </a:r>
            <a:endParaRPr lang="en-US" sz="1800" dirty="0"/>
          </a:p>
        </p:txBody>
      </p:sp>
      <p:sp>
        <p:nvSpPr>
          <p:cNvPr id="13" name="Loop text 2"/>
          <p:cNvSpPr txBox="1"/>
          <p:nvPr/>
        </p:nvSpPr>
        <p:spPr>
          <a:xfrm>
            <a:off x="3694176" y="2423160"/>
            <a:ext cx="1920240" cy="1051560"/>
          </a:xfrm>
          <a:prstGeom prst="rect">
            <a:avLst/>
          </a:prstGeom>
          <a:noFill/>
          <a:ln/>
        </p:spPr>
        <p:txBody>
          <a:bodyPr wrap="square" lIns="0" tIns="0" rIns="0" bIns="0" rtlCol="0" anchor="t"/>
          <a:lstStyle/>
          <a:p>
            <a:pPr algn="l" indent="0" marL="0">
              <a:buNone/>
            </a:pPr>
            <a:r>
              <a:rPr lang="en-US" sz="1400" dirty="0">
                <a:solidFill>
                  <a:schemeClr val="tx1"/>
                </a:solidFill>
              </a:rPr>
              <a:t>ML decision support forecasts demand and flags anomalies</a:t>
            </a:r>
            <a:endParaRPr lang="en-US" sz="1400" dirty="0"/>
          </a:p>
        </p:txBody>
      </p:sp>
      <p:sp>
        <p:nvSpPr>
          <p:cNvPr id="14" name="arrow"/>
          <p:cNvSpPr/>
          <p:nvPr/>
        </p:nvSpPr>
        <p:spPr>
          <a:xfrm>
            <a:off x="5907024" y="2331720"/>
            <a:ext cx="365760" cy="365760"/>
          </a:xfrm>
          <a:prstGeom prst="rightArrow">
            <a:avLst/>
          </a:prstGeom>
          <a:solidFill>
            <a:schemeClr val="accent2"/>
          </a:solidFill>
          <a:ln/>
        </p:spPr>
      </p:sp>
      <p:sp>
        <p:nvSpPr>
          <p:cNvPr id="15" name="Loop card 3"/>
          <p:cNvSpPr/>
          <p:nvPr/>
        </p:nvSpPr>
        <p:spPr>
          <a:xfrm>
            <a:off x="6382512" y="1463040"/>
            <a:ext cx="2331720" cy="2103120"/>
          </a:xfrm>
          <a:prstGeom prst="roundRect">
            <a:avLst>
              <a:gd name="adj" fmla="val 5217"/>
            </a:avLst>
          </a:prstGeom>
          <a:solidFill>
            <a:schemeClr val="bg2"/>
          </a:solidFill>
          <a:ln/>
        </p:spPr>
      </p:sp>
      <p:sp>
        <p:nvSpPr>
          <p:cNvPr id="16" name="Loop 3 circle"/>
          <p:cNvSpPr/>
          <p:nvPr/>
        </p:nvSpPr>
        <p:spPr>
          <a:xfrm>
            <a:off x="6611112" y="1645920"/>
            <a:ext cx="548640" cy="548640"/>
          </a:xfrm>
          <a:prstGeom prst="ellipse">
            <a:avLst/>
          </a:prstGeom>
          <a:solidFill>
            <a:schemeClr val="accent1"/>
          </a:solidFill>
          <a:ln/>
        </p:spPr>
      </p:sp>
      <p:pic>
        <p:nvPicPr>
          <p:cNvPr id="17" name="Loop 3 icon" descr="Loop 3">    </p:cNvPr>
          <p:cNvPicPr>
            <a:picLocks noChangeAspect="1"/>
          </p:cNvPicPr>
          <p:nvPr/>
        </p:nvPicPr>
        <p:blipFill>
          <a:blip r:embed="rId3"/>
          <a:stretch>
            <a:fillRect/>
          </a:stretch>
        </p:blipFill>
        <p:spPr>
          <a:xfrm>
            <a:off x="6748272" y="1783080"/>
            <a:ext cx="274320" cy="274320"/>
          </a:xfrm>
          <a:prstGeom prst="rect">
            <a:avLst/>
          </a:prstGeom>
        </p:spPr>
      </p:pic>
      <p:sp>
        <p:nvSpPr>
          <p:cNvPr id="18" name="Loop title 3"/>
          <p:cNvSpPr txBox="1"/>
          <p:nvPr/>
        </p:nvSpPr>
        <p:spPr>
          <a:xfrm>
            <a:off x="7296912" y="1645920"/>
            <a:ext cx="1325880" cy="548640"/>
          </a:xfrm>
          <a:prstGeom prst="rect">
            <a:avLst/>
          </a:prstGeom>
          <a:noFill/>
          <a:ln/>
        </p:spPr>
        <p:txBody>
          <a:bodyPr wrap="square" lIns="0" tIns="0" rIns="0" bIns="0" rtlCol="0" anchor="ctr"/>
          <a:lstStyle/>
          <a:p>
            <a:pPr algn="l" indent="0" marL="0">
              <a:buNone/>
            </a:pPr>
            <a:r>
              <a:rPr lang="en-US" sz="1800" b="1" dirty="0">
                <a:solidFill>
                  <a:schemeClr val="tx2"/>
                </a:solidFill>
              </a:rPr>
              <a:t>3. Plan</a:t>
            </a:r>
            <a:endParaRPr lang="en-US" sz="1800" dirty="0"/>
          </a:p>
        </p:txBody>
      </p:sp>
      <p:sp>
        <p:nvSpPr>
          <p:cNvPr id="19" name="Loop text 3"/>
          <p:cNvSpPr txBox="1"/>
          <p:nvPr/>
        </p:nvSpPr>
        <p:spPr>
          <a:xfrm>
            <a:off x="6611112" y="2423160"/>
            <a:ext cx="1920240" cy="1051560"/>
          </a:xfrm>
          <a:prstGeom prst="rect">
            <a:avLst/>
          </a:prstGeom>
          <a:noFill/>
          <a:ln/>
        </p:spPr>
        <p:txBody>
          <a:bodyPr wrap="square" lIns="0" tIns="0" rIns="0" bIns="0" rtlCol="0" anchor="t"/>
          <a:lstStyle/>
          <a:p>
            <a:pPr algn="l" indent="0" marL="0">
              <a:buNone/>
            </a:pPr>
            <a:r>
              <a:rPr lang="en-US" sz="1400" dirty="0">
                <a:solidFill>
                  <a:schemeClr val="tx1"/>
                </a:solidFill>
              </a:rPr>
              <a:t>Search-based planning picks the lowest-cost action sequence</a:t>
            </a:r>
            <a:endParaRPr lang="en-US" sz="1400" dirty="0"/>
          </a:p>
        </p:txBody>
      </p:sp>
      <p:sp>
        <p:nvSpPr>
          <p:cNvPr id="20" name="arrow"/>
          <p:cNvSpPr/>
          <p:nvPr/>
        </p:nvSpPr>
        <p:spPr>
          <a:xfrm>
            <a:off x="8823960" y="2331720"/>
            <a:ext cx="365760" cy="365760"/>
          </a:xfrm>
          <a:prstGeom prst="rightArrow">
            <a:avLst/>
          </a:prstGeom>
          <a:solidFill>
            <a:schemeClr val="accent2"/>
          </a:solidFill>
          <a:ln/>
        </p:spPr>
      </p:sp>
      <p:sp>
        <p:nvSpPr>
          <p:cNvPr id="21" name="Loop card 4"/>
          <p:cNvSpPr/>
          <p:nvPr/>
        </p:nvSpPr>
        <p:spPr>
          <a:xfrm>
            <a:off x="9299448" y="1463040"/>
            <a:ext cx="2331720" cy="2103120"/>
          </a:xfrm>
          <a:prstGeom prst="roundRect">
            <a:avLst>
              <a:gd name="adj" fmla="val 5217"/>
            </a:avLst>
          </a:prstGeom>
          <a:solidFill>
            <a:schemeClr val="bg2"/>
          </a:solidFill>
          <a:ln/>
        </p:spPr>
      </p:sp>
      <p:sp>
        <p:nvSpPr>
          <p:cNvPr id="22" name="Loop 4 circle"/>
          <p:cNvSpPr/>
          <p:nvPr/>
        </p:nvSpPr>
        <p:spPr>
          <a:xfrm>
            <a:off x="9528048" y="1645920"/>
            <a:ext cx="548640" cy="548640"/>
          </a:xfrm>
          <a:prstGeom prst="ellipse">
            <a:avLst/>
          </a:prstGeom>
          <a:solidFill>
            <a:schemeClr val="accent1"/>
          </a:solidFill>
          <a:ln/>
        </p:spPr>
      </p:sp>
      <p:pic>
        <p:nvPicPr>
          <p:cNvPr id="23" name="Loop 4 icon" descr="Loop 4">    </p:cNvPr>
          <p:cNvPicPr>
            <a:picLocks noChangeAspect="1"/>
          </p:cNvPicPr>
          <p:nvPr/>
        </p:nvPicPr>
        <p:blipFill>
          <a:blip r:embed="rId4"/>
          <a:stretch>
            <a:fillRect/>
          </a:stretch>
        </p:blipFill>
        <p:spPr>
          <a:xfrm>
            <a:off x="9665208" y="1783080"/>
            <a:ext cx="274320" cy="274320"/>
          </a:xfrm>
          <a:prstGeom prst="rect">
            <a:avLst/>
          </a:prstGeom>
        </p:spPr>
      </p:pic>
      <p:sp>
        <p:nvSpPr>
          <p:cNvPr id="24" name="Loop title 4"/>
          <p:cNvSpPr txBox="1"/>
          <p:nvPr/>
        </p:nvSpPr>
        <p:spPr>
          <a:xfrm>
            <a:off x="10213848" y="1645920"/>
            <a:ext cx="1325880" cy="548640"/>
          </a:xfrm>
          <a:prstGeom prst="rect">
            <a:avLst/>
          </a:prstGeom>
          <a:noFill/>
          <a:ln/>
        </p:spPr>
        <p:txBody>
          <a:bodyPr wrap="square" lIns="0" tIns="0" rIns="0" bIns="0" rtlCol="0" anchor="ctr"/>
          <a:lstStyle/>
          <a:p>
            <a:pPr algn="l" indent="0" marL="0">
              <a:buNone/>
            </a:pPr>
            <a:r>
              <a:rPr lang="en-US" sz="1800" b="1" dirty="0">
                <a:solidFill>
                  <a:schemeClr val="tx2"/>
                </a:solidFill>
              </a:rPr>
              <a:t>4. Act</a:t>
            </a:r>
            <a:endParaRPr lang="en-US" sz="1800" dirty="0"/>
          </a:p>
        </p:txBody>
      </p:sp>
      <p:sp>
        <p:nvSpPr>
          <p:cNvPr id="25" name="Loop text 4"/>
          <p:cNvSpPr txBox="1"/>
          <p:nvPr/>
        </p:nvSpPr>
        <p:spPr>
          <a:xfrm>
            <a:off x="9528048" y="2423160"/>
            <a:ext cx="1920240" cy="1051560"/>
          </a:xfrm>
          <a:prstGeom prst="rect">
            <a:avLst/>
          </a:prstGeom>
          <a:noFill/>
          <a:ln/>
        </p:spPr>
        <p:txBody>
          <a:bodyPr wrap="square" lIns="0" tIns="0" rIns="0" bIns="0" rtlCol="0" anchor="t"/>
          <a:lstStyle/>
          <a:p>
            <a:pPr algn="l" indent="0" marL="0">
              <a:buNone/>
            </a:pPr>
            <a:r>
              <a:rPr lang="en-US" sz="1400" dirty="0">
                <a:solidFill>
                  <a:schemeClr val="tx1"/>
                </a:solidFill>
              </a:rPr>
              <a:t>Runs approved actions, then checks the results</a:t>
            </a:r>
            <a:endParaRPr lang="en-US" sz="1400" dirty="0"/>
          </a:p>
        </p:txBody>
      </p:sp>
      <p:sp>
        <p:nvSpPr>
          <p:cNvPr id="26" name="Feedback arrow"/>
          <p:cNvSpPr/>
          <p:nvPr/>
        </p:nvSpPr>
        <p:spPr>
          <a:xfrm>
            <a:off x="548640" y="3749040"/>
            <a:ext cx="11091672" cy="457200"/>
          </a:xfrm>
          <a:prstGeom prst="leftArrow">
            <a:avLst/>
          </a:prstGeom>
          <a:solidFill>
            <a:schemeClr val="accent4"/>
          </a:solidFill>
          <a:ln/>
        </p:spPr>
      </p:sp>
      <p:sp>
        <p:nvSpPr>
          <p:cNvPr id="27" name="Feedback text"/>
          <p:cNvSpPr txBox="1"/>
          <p:nvPr/>
        </p:nvSpPr>
        <p:spPr>
          <a:xfrm>
            <a:off x="1280160" y="3749040"/>
            <a:ext cx="9875520" cy="457200"/>
          </a:xfrm>
          <a:prstGeom prst="rect">
            <a:avLst/>
          </a:prstGeom>
          <a:noFill/>
          <a:ln/>
        </p:spPr>
        <p:txBody>
          <a:bodyPr wrap="square" lIns="0" tIns="0" rIns="0" bIns="0" rtlCol="0" anchor="ctr"/>
          <a:lstStyle/>
          <a:p>
            <a:pPr algn="ctr" indent="0" marL="0">
              <a:buNone/>
            </a:pPr>
            <a:r>
              <a:rPr lang="en-US" sz="1400" b="1" dirty="0">
                <a:solidFill>
                  <a:schemeClr val="tx1"/>
                </a:solidFill>
              </a:rPr>
              <a:t>Feedback: outcomes return to Observe and improve the next cycle</a:t>
            </a:r>
            <a:endParaRPr lang="en-US" sz="1400" dirty="0"/>
          </a:p>
        </p:txBody>
      </p:sp>
      <p:sp>
        <p:nvSpPr>
          <p:cNvPr id="28" name="Guard card 1"/>
          <p:cNvSpPr/>
          <p:nvPr/>
        </p:nvSpPr>
        <p:spPr>
          <a:xfrm>
            <a:off x="548640" y="4434840"/>
            <a:ext cx="3566160" cy="1691640"/>
          </a:xfrm>
          <a:prstGeom prst="roundRect">
            <a:avLst>
              <a:gd name="adj" fmla="val 6486"/>
            </a:avLst>
          </a:prstGeom>
          <a:solidFill>
            <a:schemeClr val="bg2"/>
          </a:solidFill>
          <a:ln/>
        </p:spPr>
      </p:sp>
      <p:sp>
        <p:nvSpPr>
          <p:cNvPr id="29" name="Guard 1 circle"/>
          <p:cNvSpPr/>
          <p:nvPr/>
        </p:nvSpPr>
        <p:spPr>
          <a:xfrm>
            <a:off x="731520" y="4572000"/>
            <a:ext cx="457200" cy="457200"/>
          </a:xfrm>
          <a:prstGeom prst="ellipse">
            <a:avLst/>
          </a:prstGeom>
          <a:solidFill>
            <a:schemeClr val="accent1"/>
          </a:solidFill>
          <a:ln/>
        </p:spPr>
      </p:sp>
      <p:pic>
        <p:nvPicPr>
          <p:cNvPr id="30" name="Guard 1 icon" descr="Guard 1">    </p:cNvPr>
          <p:cNvPicPr>
            <a:picLocks noChangeAspect="1"/>
          </p:cNvPicPr>
          <p:nvPr/>
        </p:nvPicPr>
        <p:blipFill>
          <a:blip r:embed="rId5"/>
          <a:stretch>
            <a:fillRect/>
          </a:stretch>
        </p:blipFill>
        <p:spPr>
          <a:xfrm>
            <a:off x="845820" y="4686300"/>
            <a:ext cx="228600" cy="228600"/>
          </a:xfrm>
          <a:prstGeom prst="rect">
            <a:avLst/>
          </a:prstGeom>
        </p:spPr>
      </p:pic>
      <p:sp>
        <p:nvSpPr>
          <p:cNvPr id="31" name="Guard title 1"/>
          <p:cNvSpPr txBox="1"/>
          <p:nvPr/>
        </p:nvSpPr>
        <p:spPr>
          <a:xfrm>
            <a:off x="1325880" y="457200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Rule-based safety constraints</a:t>
            </a:r>
            <a:endParaRPr lang="en-US" sz="1600" dirty="0"/>
          </a:p>
        </p:txBody>
      </p:sp>
      <p:sp>
        <p:nvSpPr>
          <p:cNvPr id="32" name="Guard text 1"/>
          <p:cNvSpPr txBox="1"/>
          <p:nvPr/>
        </p:nvSpPr>
        <p:spPr>
          <a:xfrm>
            <a:off x="731520" y="5166360"/>
            <a:ext cx="3200400" cy="868680"/>
          </a:xfrm>
          <a:prstGeom prst="rect">
            <a:avLst/>
          </a:prstGeom>
          <a:noFill/>
          <a:ln/>
        </p:spPr>
        <p:txBody>
          <a:bodyPr wrap="square" lIns="0" tIns="0" rIns="0" bIns="0" rtlCol="0" anchor="t"/>
          <a:lstStyle/>
          <a:p>
            <a:pPr algn="l" indent="0" marL="0">
              <a:buNone/>
            </a:pPr>
            <a:r>
              <a:rPr lang="en-US" sz="1400" dirty="0">
                <a:solidFill>
                  <a:schemeClr val="tx1"/>
                </a:solidFill>
              </a:rPr>
              <a:t>Hard limits the agent can never override, such as emission caps and equipment ratings</a:t>
            </a:r>
            <a:endParaRPr lang="en-US" sz="1400" dirty="0"/>
          </a:p>
        </p:txBody>
      </p:sp>
      <p:sp>
        <p:nvSpPr>
          <p:cNvPr id="33" name="Guard card 2"/>
          <p:cNvSpPr/>
          <p:nvPr/>
        </p:nvSpPr>
        <p:spPr>
          <a:xfrm>
            <a:off x="4311396" y="4434840"/>
            <a:ext cx="3566160" cy="1691640"/>
          </a:xfrm>
          <a:prstGeom prst="roundRect">
            <a:avLst>
              <a:gd name="adj" fmla="val 6486"/>
            </a:avLst>
          </a:prstGeom>
          <a:solidFill>
            <a:schemeClr val="bg2"/>
          </a:solidFill>
          <a:ln/>
        </p:spPr>
      </p:sp>
      <p:sp>
        <p:nvSpPr>
          <p:cNvPr id="34" name="Guard 2 circle"/>
          <p:cNvSpPr/>
          <p:nvPr/>
        </p:nvSpPr>
        <p:spPr>
          <a:xfrm>
            <a:off x="4494276" y="4572000"/>
            <a:ext cx="457200" cy="457200"/>
          </a:xfrm>
          <a:prstGeom prst="ellipse">
            <a:avLst/>
          </a:prstGeom>
          <a:solidFill>
            <a:schemeClr val="accent1"/>
          </a:solidFill>
          <a:ln/>
        </p:spPr>
      </p:sp>
      <p:pic>
        <p:nvPicPr>
          <p:cNvPr id="35" name="Guard 2 icon" descr="Guard 2">    </p:cNvPr>
          <p:cNvPicPr>
            <a:picLocks noChangeAspect="1"/>
          </p:cNvPicPr>
          <p:nvPr/>
        </p:nvPicPr>
        <p:blipFill>
          <a:blip r:embed="rId6"/>
          <a:stretch>
            <a:fillRect/>
          </a:stretch>
        </p:blipFill>
        <p:spPr>
          <a:xfrm>
            <a:off x="4608576" y="4686300"/>
            <a:ext cx="228600" cy="228600"/>
          </a:xfrm>
          <a:prstGeom prst="rect">
            <a:avLst/>
          </a:prstGeom>
        </p:spPr>
      </p:pic>
      <p:sp>
        <p:nvSpPr>
          <p:cNvPr id="36" name="Guard title 2"/>
          <p:cNvSpPr txBox="1"/>
          <p:nvPr/>
        </p:nvSpPr>
        <p:spPr>
          <a:xfrm>
            <a:off x="5088636" y="457200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Human-in-the-loop approval</a:t>
            </a:r>
            <a:endParaRPr lang="en-US" sz="1600" dirty="0"/>
          </a:p>
        </p:txBody>
      </p:sp>
      <p:sp>
        <p:nvSpPr>
          <p:cNvPr id="37" name="Guard text 2"/>
          <p:cNvSpPr txBox="1"/>
          <p:nvPr/>
        </p:nvSpPr>
        <p:spPr>
          <a:xfrm>
            <a:off x="4494276" y="5166360"/>
            <a:ext cx="3200400" cy="868680"/>
          </a:xfrm>
          <a:prstGeom prst="rect">
            <a:avLst/>
          </a:prstGeom>
          <a:noFill/>
          <a:ln/>
        </p:spPr>
        <p:txBody>
          <a:bodyPr wrap="square" lIns="0" tIns="0" rIns="0" bIns="0" rtlCol="0" anchor="t"/>
          <a:lstStyle/>
          <a:p>
            <a:pPr algn="l" indent="0" marL="0">
              <a:buNone/>
            </a:pPr>
            <a:r>
              <a:rPr lang="en-US" sz="1400" dirty="0">
                <a:solidFill>
                  <a:schemeClr val="tx1"/>
                </a:solidFill>
              </a:rPr>
              <a:t>Engineers review and approve high-impact actions before they run</a:t>
            </a:r>
            <a:endParaRPr lang="en-US" sz="1400" dirty="0"/>
          </a:p>
        </p:txBody>
      </p:sp>
      <p:sp>
        <p:nvSpPr>
          <p:cNvPr id="38" name="Guard card 3"/>
          <p:cNvSpPr/>
          <p:nvPr/>
        </p:nvSpPr>
        <p:spPr>
          <a:xfrm>
            <a:off x="8074152" y="4434840"/>
            <a:ext cx="3566160" cy="1691640"/>
          </a:xfrm>
          <a:prstGeom prst="roundRect">
            <a:avLst>
              <a:gd name="adj" fmla="val 6486"/>
            </a:avLst>
          </a:prstGeom>
          <a:solidFill>
            <a:schemeClr val="bg2"/>
          </a:solidFill>
          <a:ln/>
        </p:spPr>
      </p:sp>
      <p:sp>
        <p:nvSpPr>
          <p:cNvPr id="39" name="Guard 3 circle"/>
          <p:cNvSpPr/>
          <p:nvPr/>
        </p:nvSpPr>
        <p:spPr>
          <a:xfrm>
            <a:off x="8257032" y="4572000"/>
            <a:ext cx="457200" cy="457200"/>
          </a:xfrm>
          <a:prstGeom prst="ellipse">
            <a:avLst/>
          </a:prstGeom>
          <a:solidFill>
            <a:schemeClr val="accent1"/>
          </a:solidFill>
          <a:ln/>
        </p:spPr>
      </p:sp>
      <p:pic>
        <p:nvPicPr>
          <p:cNvPr id="40" name="Guard 3 icon" descr="Guard 3">    </p:cNvPr>
          <p:cNvPicPr>
            <a:picLocks noChangeAspect="1"/>
          </p:cNvPicPr>
          <p:nvPr/>
        </p:nvPicPr>
        <p:blipFill>
          <a:blip r:embed="rId7"/>
          <a:stretch>
            <a:fillRect/>
          </a:stretch>
        </p:blipFill>
        <p:spPr>
          <a:xfrm>
            <a:off x="8371332" y="4686300"/>
            <a:ext cx="228600" cy="228600"/>
          </a:xfrm>
          <a:prstGeom prst="rect">
            <a:avLst/>
          </a:prstGeom>
        </p:spPr>
      </p:pic>
      <p:sp>
        <p:nvSpPr>
          <p:cNvPr id="41" name="Guard title 3"/>
          <p:cNvSpPr txBox="1"/>
          <p:nvPr/>
        </p:nvSpPr>
        <p:spPr>
          <a:xfrm>
            <a:off x="8851392" y="457200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Automated actions and feedback</a:t>
            </a:r>
            <a:endParaRPr lang="en-US" sz="1600" dirty="0"/>
          </a:p>
        </p:txBody>
      </p:sp>
      <p:sp>
        <p:nvSpPr>
          <p:cNvPr id="42" name="Guard text 3"/>
          <p:cNvSpPr txBox="1"/>
          <p:nvPr/>
        </p:nvSpPr>
        <p:spPr>
          <a:xfrm>
            <a:off x="8257032" y="5166360"/>
            <a:ext cx="3200400" cy="868680"/>
          </a:xfrm>
          <a:prstGeom prst="rect">
            <a:avLst/>
          </a:prstGeom>
          <a:noFill/>
          <a:ln/>
        </p:spPr>
        <p:txBody>
          <a:bodyPr wrap="square" lIns="0" tIns="0" rIns="0" bIns="0" rtlCol="0" anchor="t"/>
          <a:lstStyle/>
          <a:p>
            <a:pPr algn="l" indent="0" marL="0">
              <a:buNone/>
            </a:pPr>
            <a:r>
              <a:rPr lang="en-US" sz="1400" dirty="0">
                <a:solidFill>
                  <a:schemeClr val="tx1"/>
                </a:solidFill>
              </a:rPr>
              <a:t>Low-risk actions run automatically; every result is logged to retrain the models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Implementation, KPIs &amp; Expected Impact</a:t>
            </a:r>
            <a:endParaRPr lang="en-US" sz="3200" dirty="0"/>
          </a:p>
        </p:txBody>
      </p:sp>
      <p:sp>
        <p:nvSpPr>
          <p:cNvPr id="3" name="Phase card 1"/>
          <p:cNvSpPr/>
          <p:nvPr/>
        </p:nvSpPr>
        <p:spPr>
          <a:xfrm>
            <a:off x="548640" y="1463040"/>
            <a:ext cx="3566160" cy="1188720"/>
          </a:xfrm>
          <a:prstGeom prst="roundRect">
            <a:avLst>
              <a:gd name="adj" fmla="val 9231"/>
            </a:avLst>
          </a:prstGeom>
          <a:solidFill>
            <a:schemeClr val="bg2"/>
          </a:solidFill>
          <a:ln/>
        </p:spPr>
      </p:sp>
      <p:sp>
        <p:nvSpPr>
          <p:cNvPr id="4" name="Phase badge 1"/>
          <p:cNvSpPr/>
          <p:nvPr/>
        </p:nvSpPr>
        <p:spPr>
          <a:xfrm>
            <a:off x="731520" y="1691640"/>
            <a:ext cx="502920" cy="502920"/>
          </a:xfrm>
          <a:prstGeom prst="ellipse">
            <a:avLst/>
          </a:prstGeom>
          <a:solidFill>
            <a:schemeClr val="accent1"/>
          </a:solidFill>
          <a:ln/>
        </p:spPr>
      </p:sp>
      <p:sp>
        <p:nvSpPr>
          <p:cNvPr id="5" name="Phase number 1"/>
          <p:cNvSpPr txBox="1"/>
          <p:nvPr/>
        </p:nvSpPr>
        <p:spPr>
          <a:xfrm>
            <a:off x="73152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Phase title 1"/>
          <p:cNvSpPr txBox="1"/>
          <p:nvPr/>
        </p:nvSpPr>
        <p:spPr>
          <a:xfrm>
            <a:off x="1417320" y="1600200"/>
            <a:ext cx="2560320" cy="320040"/>
          </a:xfrm>
          <a:prstGeom prst="rect">
            <a:avLst/>
          </a:prstGeom>
          <a:noFill/>
          <a:ln/>
        </p:spPr>
        <p:txBody>
          <a:bodyPr wrap="square" lIns="0" tIns="0" rIns="0" bIns="0" rtlCol="0" anchor="t"/>
          <a:lstStyle/>
          <a:p>
            <a:pPr algn="l" indent="0" marL="0">
              <a:buNone/>
            </a:pPr>
            <a:r>
              <a:rPr lang="en-US" sz="1600" b="1" dirty="0">
                <a:solidFill>
                  <a:schemeClr val="tx2"/>
                </a:solidFill>
              </a:rPr>
              <a:t>Pilot</a:t>
            </a:r>
            <a:endParaRPr lang="en-US" sz="1600" dirty="0"/>
          </a:p>
        </p:txBody>
      </p:sp>
      <p:sp>
        <p:nvSpPr>
          <p:cNvPr id="7" name="Phase text 1"/>
          <p:cNvSpPr txBox="1"/>
          <p:nvPr/>
        </p:nvSpPr>
        <p:spPr>
          <a:xfrm>
            <a:off x="1417320" y="1965960"/>
            <a:ext cx="2560320" cy="594360"/>
          </a:xfrm>
          <a:prstGeom prst="rect">
            <a:avLst/>
          </a:prstGeom>
          <a:noFill/>
          <a:ln/>
        </p:spPr>
        <p:txBody>
          <a:bodyPr wrap="square" lIns="0" tIns="0" rIns="0" bIns="0" rtlCol="0" anchor="t"/>
          <a:lstStyle/>
          <a:p>
            <a:pPr algn="l" indent="0" marL="0">
              <a:buNone/>
            </a:pPr>
            <a:r>
              <a:rPr lang="en-US" sz="1400" dirty="0">
                <a:solidFill>
                  <a:schemeClr val="tx1"/>
                </a:solidFill>
              </a:rPr>
              <a:t>One plant or unit: set a baseline and validate the models</a:t>
            </a:r>
            <a:endParaRPr lang="en-US" sz="1400" dirty="0"/>
          </a:p>
        </p:txBody>
      </p:sp>
      <p:sp>
        <p:nvSpPr>
          <p:cNvPr id="8" name="Phase card 2"/>
          <p:cNvSpPr/>
          <p:nvPr/>
        </p:nvSpPr>
        <p:spPr>
          <a:xfrm>
            <a:off x="4311396" y="1463040"/>
            <a:ext cx="3566160" cy="1188720"/>
          </a:xfrm>
          <a:prstGeom prst="roundRect">
            <a:avLst>
              <a:gd name="adj" fmla="val 9231"/>
            </a:avLst>
          </a:prstGeom>
          <a:solidFill>
            <a:schemeClr val="bg2"/>
          </a:solidFill>
          <a:ln/>
        </p:spPr>
      </p:sp>
      <p:sp>
        <p:nvSpPr>
          <p:cNvPr id="9" name="Phase badge 2"/>
          <p:cNvSpPr/>
          <p:nvPr/>
        </p:nvSpPr>
        <p:spPr>
          <a:xfrm>
            <a:off x="4494276" y="1691640"/>
            <a:ext cx="502920" cy="502920"/>
          </a:xfrm>
          <a:prstGeom prst="ellipse">
            <a:avLst/>
          </a:prstGeom>
          <a:solidFill>
            <a:schemeClr val="accent1"/>
          </a:solidFill>
          <a:ln/>
        </p:spPr>
      </p:sp>
      <p:sp>
        <p:nvSpPr>
          <p:cNvPr id="10" name="Phase number 2"/>
          <p:cNvSpPr txBox="1"/>
          <p:nvPr/>
        </p:nvSpPr>
        <p:spPr>
          <a:xfrm>
            <a:off x="4494276"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Phase title 2"/>
          <p:cNvSpPr txBox="1"/>
          <p:nvPr/>
        </p:nvSpPr>
        <p:spPr>
          <a:xfrm>
            <a:off x="5180076" y="1600200"/>
            <a:ext cx="2560320" cy="320040"/>
          </a:xfrm>
          <a:prstGeom prst="rect">
            <a:avLst/>
          </a:prstGeom>
          <a:noFill/>
          <a:ln/>
        </p:spPr>
        <p:txBody>
          <a:bodyPr wrap="square" lIns="0" tIns="0" rIns="0" bIns="0" rtlCol="0" anchor="t"/>
          <a:lstStyle/>
          <a:p>
            <a:pPr algn="l" indent="0" marL="0">
              <a:buNone/>
            </a:pPr>
            <a:r>
              <a:rPr lang="en-US" sz="1600" b="1" dirty="0">
                <a:solidFill>
                  <a:schemeClr val="tx2"/>
                </a:solidFill>
              </a:rPr>
              <a:t>Scale</a:t>
            </a:r>
            <a:endParaRPr lang="en-US" sz="1600" dirty="0"/>
          </a:p>
        </p:txBody>
      </p:sp>
      <p:sp>
        <p:nvSpPr>
          <p:cNvPr id="12" name="Phase text 2"/>
          <p:cNvSpPr txBox="1"/>
          <p:nvPr/>
        </p:nvSpPr>
        <p:spPr>
          <a:xfrm>
            <a:off x="5180076" y="1965960"/>
            <a:ext cx="2560320" cy="594360"/>
          </a:xfrm>
          <a:prstGeom prst="rect">
            <a:avLst/>
          </a:prstGeom>
          <a:noFill/>
          <a:ln/>
        </p:spPr>
        <p:txBody>
          <a:bodyPr wrap="square" lIns="0" tIns="0" rIns="0" bIns="0" rtlCol="0" anchor="t"/>
          <a:lstStyle/>
          <a:p>
            <a:pPr algn="l" indent="0" marL="0">
              <a:buNone/>
            </a:pPr>
            <a:r>
              <a:rPr lang="en-US" sz="1400" dirty="0">
                <a:solidFill>
                  <a:schemeClr val="tx1"/>
                </a:solidFill>
              </a:rPr>
              <a:t>Extend to more sites and connect every data source</a:t>
            </a:r>
            <a:endParaRPr lang="en-US" sz="1400" dirty="0"/>
          </a:p>
        </p:txBody>
      </p:sp>
      <p:sp>
        <p:nvSpPr>
          <p:cNvPr id="13" name="Phase card 3"/>
          <p:cNvSpPr/>
          <p:nvPr/>
        </p:nvSpPr>
        <p:spPr>
          <a:xfrm>
            <a:off x="8074152" y="1463040"/>
            <a:ext cx="3566160" cy="1188720"/>
          </a:xfrm>
          <a:prstGeom prst="roundRect">
            <a:avLst>
              <a:gd name="adj" fmla="val 9231"/>
            </a:avLst>
          </a:prstGeom>
          <a:solidFill>
            <a:schemeClr val="bg2"/>
          </a:solidFill>
          <a:ln/>
        </p:spPr>
      </p:sp>
      <p:sp>
        <p:nvSpPr>
          <p:cNvPr id="14" name="Phase badge 3"/>
          <p:cNvSpPr/>
          <p:nvPr/>
        </p:nvSpPr>
        <p:spPr>
          <a:xfrm>
            <a:off x="8257032" y="1691640"/>
            <a:ext cx="502920" cy="502920"/>
          </a:xfrm>
          <a:prstGeom prst="ellipse">
            <a:avLst/>
          </a:prstGeom>
          <a:solidFill>
            <a:schemeClr val="accent1"/>
          </a:solidFill>
          <a:ln/>
        </p:spPr>
      </p:sp>
      <p:sp>
        <p:nvSpPr>
          <p:cNvPr id="15" name="Phase number 3"/>
          <p:cNvSpPr txBox="1"/>
          <p:nvPr/>
        </p:nvSpPr>
        <p:spPr>
          <a:xfrm>
            <a:off x="8257032"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Phase title 3"/>
          <p:cNvSpPr txBox="1"/>
          <p:nvPr/>
        </p:nvSpPr>
        <p:spPr>
          <a:xfrm>
            <a:off x="8942832" y="1600200"/>
            <a:ext cx="2560320" cy="320040"/>
          </a:xfrm>
          <a:prstGeom prst="rect">
            <a:avLst/>
          </a:prstGeom>
          <a:noFill/>
          <a:ln/>
        </p:spPr>
        <p:txBody>
          <a:bodyPr wrap="square" lIns="0" tIns="0" rIns="0" bIns="0" rtlCol="0" anchor="t"/>
          <a:lstStyle/>
          <a:p>
            <a:pPr algn="l" indent="0" marL="0">
              <a:buNone/>
            </a:pPr>
            <a:r>
              <a:rPr lang="en-US" sz="1600" b="1" dirty="0">
                <a:solidFill>
                  <a:schemeClr val="tx2"/>
                </a:solidFill>
              </a:rPr>
              <a:t>Embed</a:t>
            </a:r>
            <a:endParaRPr lang="en-US" sz="1600" dirty="0"/>
          </a:p>
        </p:txBody>
      </p:sp>
      <p:sp>
        <p:nvSpPr>
          <p:cNvPr id="17" name="Phase text 3"/>
          <p:cNvSpPr txBox="1"/>
          <p:nvPr/>
        </p:nvSpPr>
        <p:spPr>
          <a:xfrm>
            <a:off x="8942832" y="1965960"/>
            <a:ext cx="2560320" cy="594360"/>
          </a:xfrm>
          <a:prstGeom prst="rect">
            <a:avLst/>
          </a:prstGeom>
          <a:noFill/>
          <a:ln/>
        </p:spPr>
        <p:txBody>
          <a:bodyPr wrap="square" lIns="0" tIns="0" rIns="0" bIns="0" rtlCol="0" anchor="t"/>
          <a:lstStyle/>
          <a:p>
            <a:pPr algn="l" indent="0" marL="0">
              <a:buNone/>
            </a:pPr>
            <a:r>
              <a:rPr lang="en-US" sz="1400" dirty="0">
                <a:solidFill>
                  <a:schemeClr val="tx1"/>
                </a:solidFill>
              </a:rPr>
              <a:t>Enterprise-wide rollout with continuous model retraining</a:t>
            </a:r>
            <a:endParaRPr lang="en-US" sz="1400" dirty="0"/>
          </a:p>
        </p:txBody>
      </p:sp>
      <p:sp>
        <p:nvSpPr>
          <p:cNvPr id="18" name="KPI card 1"/>
          <p:cNvSpPr/>
          <p:nvPr/>
        </p:nvSpPr>
        <p:spPr>
          <a:xfrm>
            <a:off x="548640" y="2880360"/>
            <a:ext cx="3566160" cy="1691640"/>
          </a:xfrm>
          <a:prstGeom prst="roundRect">
            <a:avLst>
              <a:gd name="adj" fmla="val 6486"/>
            </a:avLst>
          </a:prstGeom>
          <a:solidFill>
            <a:schemeClr val="bg2"/>
          </a:solidFill>
          <a:ln/>
        </p:spPr>
      </p:sp>
      <p:sp>
        <p:nvSpPr>
          <p:cNvPr id="19" name="KPI 1 circle"/>
          <p:cNvSpPr/>
          <p:nvPr/>
        </p:nvSpPr>
        <p:spPr>
          <a:xfrm>
            <a:off x="731520" y="3017520"/>
            <a:ext cx="457200" cy="457200"/>
          </a:xfrm>
          <a:prstGeom prst="ellipse">
            <a:avLst/>
          </a:prstGeom>
          <a:solidFill>
            <a:schemeClr val="accent1"/>
          </a:solidFill>
          <a:ln/>
        </p:spPr>
      </p:sp>
      <p:pic>
        <p:nvPicPr>
          <p:cNvPr id="20" name="KPI 1 icon" descr="KPI 1">    </p:cNvPr>
          <p:cNvPicPr>
            <a:picLocks noChangeAspect="1"/>
          </p:cNvPicPr>
          <p:nvPr/>
        </p:nvPicPr>
        <p:blipFill>
          <a:blip r:embed="rId1"/>
          <a:stretch>
            <a:fillRect/>
          </a:stretch>
        </p:blipFill>
        <p:spPr>
          <a:xfrm>
            <a:off x="845820" y="3131820"/>
            <a:ext cx="228600" cy="228600"/>
          </a:xfrm>
          <a:prstGeom prst="rect">
            <a:avLst/>
          </a:prstGeom>
        </p:spPr>
      </p:pic>
      <p:sp>
        <p:nvSpPr>
          <p:cNvPr id="21" name="KPI title 1"/>
          <p:cNvSpPr txBox="1"/>
          <p:nvPr/>
        </p:nvSpPr>
        <p:spPr>
          <a:xfrm>
            <a:off x="1325880" y="301752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Energy efficiency</a:t>
            </a:r>
            <a:endParaRPr lang="en-US" sz="1600" dirty="0"/>
          </a:p>
        </p:txBody>
      </p:sp>
      <p:sp>
        <p:nvSpPr>
          <p:cNvPr id="22" name="KPI list 1"/>
          <p:cNvSpPr txBox="1"/>
          <p:nvPr/>
        </p:nvSpPr>
        <p:spPr>
          <a:xfrm>
            <a:off x="731520" y="3611880"/>
            <a:ext cx="3200400" cy="868680"/>
          </a:xfrm>
          <a:prstGeom prst="rect">
            <a:avLst/>
          </a:prstGeom>
          <a:noFill/>
          <a:ln/>
        </p:spPr>
        <p:txBody>
          <a:bodyPr wrap="square" lIns="0" tIns="0" rIns="0" bIns="0" rtlCol="0" anchor="t"/>
          <a:lstStyle/>
          <a:p>
            <a:pPr algn="l" marL="342900" indent="-342900">
              <a:spcAft>
                <a:spcPts val="200"/>
              </a:spcAft>
              <a:buSzPct val="100000"/>
              <a:buChar char="•"/>
            </a:pPr>
            <a:r>
              <a:rPr lang="en-US" sz="1400" dirty="0">
                <a:solidFill>
                  <a:schemeClr val="tx1"/>
                </a:solidFill>
              </a:rPr>
              <a:t>kWh per unit of output</a:t>
            </a:r>
            <a:endParaRPr lang="en-US" sz="1400" dirty="0"/>
          </a:p>
          <a:p>
            <a:pPr algn="l" marL="342900" indent="-342900">
              <a:spcAft>
                <a:spcPts val="200"/>
              </a:spcAft>
              <a:buSzPct val="100000"/>
              <a:buChar char="•"/>
            </a:pPr>
            <a:r>
              <a:rPr lang="en-US" sz="1400" dirty="0">
                <a:solidFill>
                  <a:schemeClr val="tx1"/>
                </a:solidFill>
              </a:rPr>
              <a:t>Peak demand and energy cost</a:t>
            </a:r>
            <a:endParaRPr lang="en-US" sz="1400" dirty="0"/>
          </a:p>
          <a:p>
            <a:pPr algn="l" marL="342900" indent="-342900">
              <a:spcAft>
                <a:spcPts val="200"/>
              </a:spcAft>
              <a:buSzPct val="100000"/>
              <a:buChar char="•"/>
            </a:pPr>
            <a:r>
              <a:rPr lang="en-US" sz="1400" dirty="0">
                <a:solidFill>
                  <a:schemeClr val="tx1"/>
                </a:solidFill>
              </a:rPr>
              <a:t>Share of renewable energy</a:t>
            </a:r>
            <a:endParaRPr lang="en-US" sz="1400" dirty="0"/>
          </a:p>
        </p:txBody>
      </p:sp>
      <p:sp>
        <p:nvSpPr>
          <p:cNvPr id="23" name="KPI card 2"/>
          <p:cNvSpPr/>
          <p:nvPr/>
        </p:nvSpPr>
        <p:spPr>
          <a:xfrm>
            <a:off x="4311396" y="2880360"/>
            <a:ext cx="3566160" cy="1691640"/>
          </a:xfrm>
          <a:prstGeom prst="roundRect">
            <a:avLst>
              <a:gd name="adj" fmla="val 6486"/>
            </a:avLst>
          </a:prstGeom>
          <a:solidFill>
            <a:schemeClr val="bg2"/>
          </a:solidFill>
          <a:ln/>
        </p:spPr>
      </p:sp>
      <p:sp>
        <p:nvSpPr>
          <p:cNvPr id="24" name="KPI 2 circle"/>
          <p:cNvSpPr/>
          <p:nvPr/>
        </p:nvSpPr>
        <p:spPr>
          <a:xfrm>
            <a:off x="4494276" y="3017520"/>
            <a:ext cx="457200" cy="457200"/>
          </a:xfrm>
          <a:prstGeom prst="ellipse">
            <a:avLst/>
          </a:prstGeom>
          <a:solidFill>
            <a:schemeClr val="accent1"/>
          </a:solidFill>
          <a:ln/>
        </p:spPr>
      </p:sp>
      <p:pic>
        <p:nvPicPr>
          <p:cNvPr id="25" name="KPI 2 icon" descr="KPI 2">    </p:cNvPr>
          <p:cNvPicPr>
            <a:picLocks noChangeAspect="1"/>
          </p:cNvPicPr>
          <p:nvPr/>
        </p:nvPicPr>
        <p:blipFill>
          <a:blip r:embed="rId2"/>
          <a:stretch>
            <a:fillRect/>
          </a:stretch>
        </p:blipFill>
        <p:spPr>
          <a:xfrm>
            <a:off x="4608576" y="3131820"/>
            <a:ext cx="228600" cy="228600"/>
          </a:xfrm>
          <a:prstGeom prst="rect">
            <a:avLst/>
          </a:prstGeom>
        </p:spPr>
      </p:pic>
      <p:sp>
        <p:nvSpPr>
          <p:cNvPr id="26" name="KPI title 2"/>
          <p:cNvSpPr txBox="1"/>
          <p:nvPr/>
        </p:nvSpPr>
        <p:spPr>
          <a:xfrm>
            <a:off x="5088636" y="301752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Carbon emissions</a:t>
            </a:r>
            <a:endParaRPr lang="en-US" sz="1600" dirty="0"/>
          </a:p>
        </p:txBody>
      </p:sp>
      <p:sp>
        <p:nvSpPr>
          <p:cNvPr id="27" name="KPI list 2"/>
          <p:cNvSpPr txBox="1"/>
          <p:nvPr/>
        </p:nvSpPr>
        <p:spPr>
          <a:xfrm>
            <a:off x="4494276" y="3611880"/>
            <a:ext cx="3200400" cy="868680"/>
          </a:xfrm>
          <a:prstGeom prst="rect">
            <a:avLst/>
          </a:prstGeom>
          <a:noFill/>
          <a:ln/>
        </p:spPr>
        <p:txBody>
          <a:bodyPr wrap="square" lIns="0" tIns="0" rIns="0" bIns="0" rtlCol="0" anchor="t"/>
          <a:lstStyle/>
          <a:p>
            <a:pPr algn="l" marL="342900" indent="-342900">
              <a:spcAft>
                <a:spcPts val="200"/>
              </a:spcAft>
              <a:buSzPct val="100000"/>
              <a:buChar char="•"/>
            </a:pPr>
            <a:r>
              <a:rPr lang="en-US" sz="1400" dirty="0">
                <a:solidFill>
                  <a:schemeClr val="tx1"/>
                </a:solidFill>
              </a:rPr>
              <a:t>Total emissions (tCO2e)</a:t>
            </a:r>
            <a:endParaRPr lang="en-US" sz="1400" dirty="0"/>
          </a:p>
          <a:p>
            <a:pPr algn="l" marL="342900" indent="-342900">
              <a:spcAft>
                <a:spcPts val="200"/>
              </a:spcAft>
              <a:buSzPct val="100000"/>
              <a:buChar char="•"/>
            </a:pPr>
            <a:r>
              <a:rPr lang="en-US" sz="1400" dirty="0">
                <a:solidFill>
                  <a:schemeClr val="tx1"/>
                </a:solidFill>
              </a:rPr>
              <a:t>Emission intensity per unit</a:t>
            </a:r>
            <a:endParaRPr lang="en-US" sz="1400" dirty="0"/>
          </a:p>
          <a:p>
            <a:pPr algn="l" marL="342900" indent="-342900">
              <a:spcAft>
                <a:spcPts val="200"/>
              </a:spcAft>
              <a:buSzPct val="100000"/>
              <a:buChar char="•"/>
            </a:pPr>
            <a:r>
              <a:rPr lang="en-US" sz="1400" dirty="0">
                <a:solidFill>
                  <a:schemeClr val="tx1"/>
                </a:solidFill>
              </a:rPr>
              <a:t>Year-on-year reduction</a:t>
            </a:r>
            <a:endParaRPr lang="en-US" sz="1400" dirty="0"/>
          </a:p>
        </p:txBody>
      </p:sp>
      <p:sp>
        <p:nvSpPr>
          <p:cNvPr id="28" name="KPI card 3"/>
          <p:cNvSpPr/>
          <p:nvPr/>
        </p:nvSpPr>
        <p:spPr>
          <a:xfrm>
            <a:off x="8074152" y="2880360"/>
            <a:ext cx="3566160" cy="1691640"/>
          </a:xfrm>
          <a:prstGeom prst="roundRect">
            <a:avLst>
              <a:gd name="adj" fmla="val 6486"/>
            </a:avLst>
          </a:prstGeom>
          <a:solidFill>
            <a:schemeClr val="bg2"/>
          </a:solidFill>
          <a:ln/>
        </p:spPr>
      </p:sp>
      <p:sp>
        <p:nvSpPr>
          <p:cNvPr id="29" name="KPI 3 circle"/>
          <p:cNvSpPr/>
          <p:nvPr/>
        </p:nvSpPr>
        <p:spPr>
          <a:xfrm>
            <a:off x="8257032" y="3017520"/>
            <a:ext cx="457200" cy="457200"/>
          </a:xfrm>
          <a:prstGeom prst="ellipse">
            <a:avLst/>
          </a:prstGeom>
          <a:solidFill>
            <a:schemeClr val="accent1"/>
          </a:solidFill>
          <a:ln/>
        </p:spPr>
      </p:sp>
      <p:pic>
        <p:nvPicPr>
          <p:cNvPr id="30" name="KPI 3 icon" descr="KPI 3">    </p:cNvPr>
          <p:cNvPicPr>
            <a:picLocks noChangeAspect="1"/>
          </p:cNvPicPr>
          <p:nvPr/>
        </p:nvPicPr>
        <p:blipFill>
          <a:blip r:embed="rId3"/>
          <a:stretch>
            <a:fillRect/>
          </a:stretch>
        </p:blipFill>
        <p:spPr>
          <a:xfrm>
            <a:off x="8371332" y="3131820"/>
            <a:ext cx="228600" cy="228600"/>
          </a:xfrm>
          <a:prstGeom prst="rect">
            <a:avLst/>
          </a:prstGeom>
        </p:spPr>
      </p:pic>
      <p:sp>
        <p:nvSpPr>
          <p:cNvPr id="31" name="KPI title 3"/>
          <p:cNvSpPr txBox="1"/>
          <p:nvPr/>
        </p:nvSpPr>
        <p:spPr>
          <a:xfrm>
            <a:off x="8851392" y="3017520"/>
            <a:ext cx="2651760" cy="457200"/>
          </a:xfrm>
          <a:prstGeom prst="rect">
            <a:avLst/>
          </a:prstGeom>
          <a:noFill/>
          <a:ln/>
        </p:spPr>
        <p:txBody>
          <a:bodyPr wrap="square" lIns="0" tIns="0" rIns="0" bIns="0" rtlCol="0" anchor="ctr"/>
          <a:lstStyle/>
          <a:p>
            <a:pPr algn="l" indent="0" marL="0">
              <a:buNone/>
            </a:pPr>
            <a:r>
              <a:rPr lang="en-US" sz="1600" b="1" dirty="0">
                <a:solidFill>
                  <a:schemeClr val="tx2"/>
                </a:solidFill>
              </a:rPr>
              <a:t>Waste and recycling</a:t>
            </a:r>
            <a:endParaRPr lang="en-US" sz="1600" dirty="0"/>
          </a:p>
        </p:txBody>
      </p:sp>
      <p:sp>
        <p:nvSpPr>
          <p:cNvPr id="32" name="KPI list 3"/>
          <p:cNvSpPr txBox="1"/>
          <p:nvPr/>
        </p:nvSpPr>
        <p:spPr>
          <a:xfrm>
            <a:off x="8257032" y="3611880"/>
            <a:ext cx="3200400" cy="868680"/>
          </a:xfrm>
          <a:prstGeom prst="rect">
            <a:avLst/>
          </a:prstGeom>
          <a:noFill/>
          <a:ln/>
        </p:spPr>
        <p:txBody>
          <a:bodyPr wrap="square" lIns="0" tIns="0" rIns="0" bIns="0" rtlCol="0" anchor="t"/>
          <a:lstStyle/>
          <a:p>
            <a:pPr algn="l" marL="342900" indent="-342900">
              <a:spcAft>
                <a:spcPts val="200"/>
              </a:spcAft>
              <a:buSzPct val="100000"/>
              <a:buChar char="•"/>
            </a:pPr>
            <a:r>
              <a:rPr lang="en-US" sz="1400" dirty="0">
                <a:solidFill>
                  <a:schemeClr val="tx1"/>
                </a:solidFill>
              </a:rPr>
              <a:t>Waste generated per unit</a:t>
            </a:r>
            <a:endParaRPr lang="en-US" sz="1400" dirty="0"/>
          </a:p>
          <a:p>
            <a:pPr algn="l" marL="342900" indent="-342900">
              <a:spcAft>
                <a:spcPts val="200"/>
              </a:spcAft>
              <a:buSzPct val="100000"/>
              <a:buChar char="•"/>
            </a:pPr>
            <a:r>
              <a:rPr lang="en-US" sz="1400" dirty="0">
                <a:solidFill>
                  <a:schemeClr val="tx1"/>
                </a:solidFill>
              </a:rPr>
              <a:t>Recycling and recovery rate</a:t>
            </a:r>
            <a:endParaRPr lang="en-US" sz="1400" dirty="0"/>
          </a:p>
          <a:p>
            <a:pPr algn="l" marL="342900" indent="-342900">
              <a:spcAft>
                <a:spcPts val="200"/>
              </a:spcAft>
              <a:buSzPct val="100000"/>
              <a:buChar char="•"/>
            </a:pPr>
            <a:r>
              <a:rPr lang="en-US" sz="1400" dirty="0">
                <a:solidFill>
                  <a:schemeClr val="tx1"/>
                </a:solidFill>
              </a:rPr>
              <a:t>Landfill diversion rate</a:t>
            </a:r>
            <a:endParaRPr lang="en-US" sz="1400" dirty="0"/>
          </a:p>
        </p:txBody>
      </p:sp>
      <p:sp>
        <p:nvSpPr>
          <p:cNvPr id="33" name="Bottom card 1"/>
          <p:cNvSpPr/>
          <p:nvPr/>
        </p:nvSpPr>
        <p:spPr>
          <a:xfrm>
            <a:off x="548640" y="4754880"/>
            <a:ext cx="3566160" cy="1325880"/>
          </a:xfrm>
          <a:prstGeom prst="roundRect">
            <a:avLst>
              <a:gd name="adj" fmla="val 8276"/>
            </a:avLst>
          </a:prstGeom>
          <a:solidFill>
            <a:schemeClr val="bg2"/>
          </a:solidFill>
          <a:ln/>
        </p:spPr>
      </p:sp>
      <p:sp>
        <p:nvSpPr>
          <p:cNvPr id="34" name="Bottom title 1"/>
          <p:cNvSpPr txBox="1"/>
          <p:nvPr/>
        </p:nvSpPr>
        <p:spPr>
          <a:xfrm>
            <a:off x="777240" y="4919472"/>
            <a:ext cx="3108960" cy="365760"/>
          </a:xfrm>
          <a:prstGeom prst="rect">
            <a:avLst/>
          </a:prstGeom>
          <a:noFill/>
          <a:ln/>
        </p:spPr>
        <p:txBody>
          <a:bodyPr wrap="square" lIns="0" tIns="0" rIns="0" bIns="0" rtlCol="0" anchor="t"/>
          <a:lstStyle/>
          <a:p>
            <a:pPr algn="l" indent="0" marL="0">
              <a:buNone/>
            </a:pPr>
            <a:r>
              <a:rPr lang="en-US" sz="1600" b="1" dirty="0">
                <a:solidFill>
                  <a:schemeClr val="tx2"/>
                </a:solidFill>
              </a:rPr>
              <a:t>AI model evaluation</a:t>
            </a:r>
            <a:endParaRPr lang="en-US" sz="1600" dirty="0"/>
          </a:p>
        </p:txBody>
      </p:sp>
      <p:sp>
        <p:nvSpPr>
          <p:cNvPr id="35" name="Bottom text 1"/>
          <p:cNvSpPr txBox="1"/>
          <p:nvPr/>
        </p:nvSpPr>
        <p:spPr>
          <a:xfrm>
            <a:off x="777240" y="5349240"/>
            <a:ext cx="3108960" cy="640080"/>
          </a:xfrm>
          <a:prstGeom prst="rect">
            <a:avLst/>
          </a:prstGeom>
          <a:noFill/>
          <a:ln/>
        </p:spPr>
        <p:txBody>
          <a:bodyPr wrap="square" lIns="0" tIns="0" rIns="0" bIns="0" rtlCol="0" anchor="t"/>
          <a:lstStyle/>
          <a:p>
            <a:pPr algn="l" indent="0" marL="0">
              <a:buNone/>
            </a:pPr>
            <a:r>
              <a:rPr lang="en-US" sz="1400" dirty="0">
                <a:solidFill>
                  <a:schemeClr val="tx1"/>
                </a:solidFill>
              </a:rPr>
              <a:t>Forecast error (MAPE), alert precision and recall, and drift checks</a:t>
            </a:r>
            <a:endParaRPr lang="en-US" sz="1400" dirty="0"/>
          </a:p>
        </p:txBody>
      </p:sp>
      <p:sp>
        <p:nvSpPr>
          <p:cNvPr id="36" name="Bottom card 2"/>
          <p:cNvSpPr/>
          <p:nvPr/>
        </p:nvSpPr>
        <p:spPr>
          <a:xfrm>
            <a:off x="4311396" y="4754880"/>
            <a:ext cx="3566160" cy="1325880"/>
          </a:xfrm>
          <a:prstGeom prst="roundRect">
            <a:avLst>
              <a:gd name="adj" fmla="val 8276"/>
            </a:avLst>
          </a:prstGeom>
          <a:solidFill>
            <a:schemeClr val="bg2"/>
          </a:solidFill>
          <a:ln/>
        </p:spPr>
      </p:sp>
      <p:sp>
        <p:nvSpPr>
          <p:cNvPr id="37" name="Bottom title 2"/>
          <p:cNvSpPr txBox="1"/>
          <p:nvPr/>
        </p:nvSpPr>
        <p:spPr>
          <a:xfrm>
            <a:off x="4539996" y="4919472"/>
            <a:ext cx="3108960" cy="365760"/>
          </a:xfrm>
          <a:prstGeom prst="rect">
            <a:avLst/>
          </a:prstGeom>
          <a:noFill/>
          <a:ln/>
        </p:spPr>
        <p:txBody>
          <a:bodyPr wrap="square" lIns="0" tIns="0" rIns="0" bIns="0" rtlCol="0" anchor="t"/>
          <a:lstStyle/>
          <a:p>
            <a:pPr algn="l" indent="0" marL="0">
              <a:buNone/>
            </a:pPr>
            <a:r>
              <a:rPr lang="en-US" sz="1600" b="1" dirty="0">
                <a:solidFill>
                  <a:schemeClr val="tx2"/>
                </a:solidFill>
              </a:rPr>
              <a:t>Governance and risk</a:t>
            </a:r>
            <a:endParaRPr lang="en-US" sz="1600" dirty="0"/>
          </a:p>
        </p:txBody>
      </p:sp>
      <p:sp>
        <p:nvSpPr>
          <p:cNvPr id="38" name="Bottom text 2"/>
          <p:cNvSpPr txBox="1"/>
          <p:nvPr/>
        </p:nvSpPr>
        <p:spPr>
          <a:xfrm>
            <a:off x="4539996" y="5349240"/>
            <a:ext cx="3108960" cy="640080"/>
          </a:xfrm>
          <a:prstGeom prst="rect">
            <a:avLst/>
          </a:prstGeom>
          <a:noFill/>
          <a:ln/>
        </p:spPr>
        <p:txBody>
          <a:bodyPr wrap="square" lIns="0" tIns="0" rIns="0" bIns="0" rtlCol="0" anchor="t"/>
          <a:lstStyle/>
          <a:p>
            <a:pPr algn="l" indent="0" marL="0">
              <a:buNone/>
            </a:pPr>
            <a:r>
              <a:rPr lang="en-US" sz="1400" dirty="0">
                <a:solidFill>
                  <a:schemeClr val="tx1"/>
                </a:solidFill>
              </a:rPr>
              <a:t>Data privacy, bias checks, audit trail and clear human ownership</a:t>
            </a:r>
            <a:endParaRPr lang="en-US" sz="1400" dirty="0"/>
          </a:p>
        </p:txBody>
      </p:sp>
      <p:sp>
        <p:nvSpPr>
          <p:cNvPr id="39" name="Bottom card 3"/>
          <p:cNvSpPr/>
          <p:nvPr/>
        </p:nvSpPr>
        <p:spPr>
          <a:xfrm>
            <a:off x="8074152" y="4754880"/>
            <a:ext cx="3566160" cy="1325880"/>
          </a:xfrm>
          <a:prstGeom prst="roundRect">
            <a:avLst>
              <a:gd name="adj" fmla="val 8276"/>
            </a:avLst>
          </a:prstGeom>
          <a:solidFill>
            <a:schemeClr val="tx2"/>
          </a:solidFill>
          <a:ln/>
        </p:spPr>
      </p:sp>
      <p:sp>
        <p:nvSpPr>
          <p:cNvPr id="40" name="Bottom title 3"/>
          <p:cNvSpPr txBox="1"/>
          <p:nvPr/>
        </p:nvSpPr>
        <p:spPr>
          <a:xfrm>
            <a:off x="8302752" y="4919472"/>
            <a:ext cx="3108960" cy="365760"/>
          </a:xfrm>
          <a:prstGeom prst="rect">
            <a:avLst/>
          </a:prstGeom>
          <a:noFill/>
          <a:ln/>
        </p:spPr>
        <p:txBody>
          <a:bodyPr wrap="square" lIns="0" tIns="0" rIns="0" bIns="0" rtlCol="0" anchor="t"/>
          <a:lstStyle/>
          <a:p>
            <a:pPr algn="l" indent="0" marL="0">
              <a:buNone/>
            </a:pPr>
            <a:r>
              <a:rPr lang="en-US" sz="1600" b="1" dirty="0">
                <a:solidFill>
                  <a:schemeClr val="accent2"/>
                </a:solidFill>
              </a:rPr>
              <a:t>Expected benefits</a:t>
            </a:r>
            <a:endParaRPr lang="en-US" sz="1600" dirty="0"/>
          </a:p>
        </p:txBody>
      </p:sp>
      <p:sp>
        <p:nvSpPr>
          <p:cNvPr id="41" name="Bottom text 3"/>
          <p:cNvSpPr txBox="1"/>
          <p:nvPr/>
        </p:nvSpPr>
        <p:spPr>
          <a:xfrm>
            <a:off x="8302752" y="5349240"/>
            <a:ext cx="3108960" cy="640080"/>
          </a:xfrm>
          <a:prstGeom prst="rect">
            <a:avLst/>
          </a:prstGeom>
          <a:noFill/>
          <a:ln/>
        </p:spPr>
        <p:txBody>
          <a:bodyPr wrap="square" lIns="0" tIns="0" rIns="0" bIns="0" rtlCol="0" anchor="t"/>
          <a:lstStyle/>
          <a:p>
            <a:pPr algn="l" indent="0" marL="0">
              <a:buNone/>
            </a:pPr>
            <a:r>
              <a:rPr lang="en-US" sz="1400" dirty="0">
                <a:solidFill>
                  <a:schemeClr val="bg1"/>
                </a:solidFill>
              </a:rPr>
              <a:t>Lower energy cost and emissions, less waste, audit-ready ESG reporting</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Green Initiatives">
  <a:themeElements>
    <a:clrScheme name="Green Initiatives">
      <a:dk1>
        <a:srgbClr val="1B2A24"/>
      </a:dk1>
      <a:lt1>
        <a:srgbClr val="FFFFFF"/>
      </a:lt1>
      <a:dk2>
        <a:srgbClr val="0F3D2E"/>
      </a:dk2>
      <a:lt2>
        <a:srgbClr val="E8F3EC"/>
      </a:lt2>
      <a:accent1>
        <a:srgbClr val="1F8A5B"/>
      </a:accent1>
      <a:accent2>
        <a:srgbClr val="F2B134"/>
      </a:accent2>
      <a:accent3>
        <a:srgbClr val="2F7FA8"/>
      </a:accent3>
      <a:accent4>
        <a:srgbClr val="7FB77E"/>
      </a:accent4>
      <a:accent5>
        <a:srgbClr val="C8553D"/>
      </a:accent5>
      <a:accent6>
        <a:srgbClr val="5C6B66"/>
      </a:accent6>
      <a:hlink>
        <a:srgbClr val="1F8A5B"/>
      </a:hlink>
      <a:folHlink>
        <a:srgbClr val="5C6B66"/>
      </a:folHlink>
    </a:clrScheme>
    <a:fontScheme name="Green Initiativ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Sustainability &amp; Green Initiatives - Group 10</dc:title>
  <dc:subject>PptxGenJS Presentation</dc:subject>
  <dc:creator>Group 10</dc:creator>
  <cp:lastModifiedBy>Group 10</cp:lastModifiedBy>
  <cp:revision>1</cp:revision>
  <dcterms:created xsi:type="dcterms:W3CDTF">2026-10-18T07:51:46Z</dcterms:created>
  <dcterms:modified xsi:type="dcterms:W3CDTF">2026-10-18T07:51:46Z</dcterms:modified>
</cp:coreProperties>
</file>